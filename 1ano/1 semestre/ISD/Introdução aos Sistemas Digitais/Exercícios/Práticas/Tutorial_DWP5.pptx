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20"/>
  </p:handoutMasterIdLst>
  <p:sldIdLst>
    <p:sldId id="256" r:id="rId2"/>
    <p:sldId id="284" r:id="rId3"/>
    <p:sldId id="257" r:id="rId4"/>
    <p:sldId id="294" r:id="rId5"/>
    <p:sldId id="282" r:id="rId6"/>
    <p:sldId id="283" r:id="rId7"/>
    <p:sldId id="258" r:id="rId8"/>
    <p:sldId id="259" r:id="rId9"/>
    <p:sldId id="260" r:id="rId10"/>
    <p:sldId id="285" r:id="rId11"/>
    <p:sldId id="286" r:id="rId12"/>
    <p:sldId id="288" r:id="rId13"/>
    <p:sldId id="287" r:id="rId14"/>
    <p:sldId id="289" r:id="rId15"/>
    <p:sldId id="295" r:id="rId16"/>
    <p:sldId id="296" r:id="rId17"/>
    <p:sldId id="292" r:id="rId18"/>
    <p:sldId id="293" r:id="rId19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33399"/>
    <a:srgbClr val="FFCCCC"/>
    <a:srgbClr val="CCFFCC"/>
    <a:srgbClr val="000066"/>
    <a:srgbClr val="CCECFF"/>
    <a:srgbClr val="0F5FFF"/>
    <a:srgbClr val="6699FF"/>
    <a:srgbClr val="CC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 autoAdjust="0"/>
    <p:restoredTop sz="94660"/>
  </p:normalViewPr>
  <p:slideViewPr>
    <p:cSldViewPr>
      <p:cViewPr varScale="1">
        <p:scale>
          <a:sx n="92" d="100"/>
          <a:sy n="92" d="100"/>
        </p:scale>
        <p:origin x="-2094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Relationship Id="rId4" Type="http://schemas.openxmlformats.org/officeDocument/2006/relationships/image" Target="../media/image18.png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27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32.png"/><Relationship Id="rId4" Type="http://schemas.openxmlformats.org/officeDocument/2006/relationships/image" Target="../media/image35.png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image" Target="../media/image36.png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image" Target="../media/image42.png"/><Relationship Id="rId4" Type="http://schemas.openxmlformats.org/officeDocument/2006/relationships/image" Target="../media/image45.png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png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image" Target="../media/image47.png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image" Target="../media/image49.png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image" Target="../media/image51.png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image" Target="../media/image54.png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image" Target="../media/image57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9939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39940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9941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B68B0E7-5CA2-450A-AE0C-D86E007B0CD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5881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D2F77A-0598-48ED-A09E-613B6853082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321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F4C5CC-71A7-40D0-A80B-EA4A460648F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578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94059E-AB02-42A3-B3F2-9D96FDE8359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534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7E7CCE-7289-4390-9EDB-E7F220B8733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73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B53BE5-FDE7-476A-9C6D-8FC9923A07D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943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A6789B-8E5E-4BC1-919A-3663694B94E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267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E948A2-C207-4C97-B790-9612EE1CAFC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954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C09B43-E6EF-456B-8963-57912C2EF45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609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B8E9A7-2DF9-47AE-9236-03D22F168B1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953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E6612C-E444-40D6-9E74-277753D1D7D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485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A74ECA-F0BB-4099-855D-7444AE96310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583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 b="0"/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/>
            </a:lvl1pPr>
          </a:lstStyle>
          <a:p>
            <a:fld id="{CAF81568-1B62-42F4-B714-C1CF97DEB1F3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4.png"/><Relationship Id="rId5" Type="http://schemas.openxmlformats.org/officeDocument/2006/relationships/oleObject" Target="../embeddings/oleObject4.bin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oleObject" Target="../embeddings/oleObject6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8.png"/><Relationship Id="rId5" Type="http://schemas.openxmlformats.org/officeDocument/2006/relationships/oleObject" Target="../embeddings/oleObject8.bin"/><Relationship Id="rId10" Type="http://schemas.openxmlformats.org/officeDocument/2006/relationships/image" Target="../media/image10.png"/><Relationship Id="rId4" Type="http://schemas.openxmlformats.org/officeDocument/2006/relationships/image" Target="../media/image7.png"/><Relationship Id="rId9" Type="http://schemas.openxmlformats.org/officeDocument/2006/relationships/oleObject" Target="../embeddings/oleObject10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2.png"/><Relationship Id="rId5" Type="http://schemas.openxmlformats.org/officeDocument/2006/relationships/oleObject" Target="../embeddings/oleObject12.bin"/><Relationship Id="rId10" Type="http://schemas.openxmlformats.org/officeDocument/2006/relationships/image" Target="../media/image14.png"/><Relationship Id="rId4" Type="http://schemas.openxmlformats.org/officeDocument/2006/relationships/image" Target="../media/image11.png"/><Relationship Id="rId9" Type="http://schemas.openxmlformats.org/officeDocument/2006/relationships/oleObject" Target="../embeddings/oleObject14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6.png"/><Relationship Id="rId5" Type="http://schemas.openxmlformats.org/officeDocument/2006/relationships/oleObject" Target="../embeddings/oleObject16.bin"/><Relationship Id="rId10" Type="http://schemas.openxmlformats.org/officeDocument/2006/relationships/image" Target="../media/image18.png"/><Relationship Id="rId4" Type="http://schemas.openxmlformats.org/officeDocument/2006/relationships/image" Target="../media/image15.png"/><Relationship Id="rId9" Type="http://schemas.openxmlformats.org/officeDocument/2006/relationships/oleObject" Target="../embeddings/oleObject18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oleObject" Target="../embeddings/oleObject24.bin"/><Relationship Id="rId18" Type="http://schemas.openxmlformats.org/officeDocument/2006/relationships/image" Target="../media/image26.png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12" Type="http://schemas.openxmlformats.org/officeDocument/2006/relationships/image" Target="../media/image23.png"/><Relationship Id="rId17" Type="http://schemas.openxmlformats.org/officeDocument/2006/relationships/oleObject" Target="../embeddings/oleObject2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5.png"/><Relationship Id="rId1" Type="http://schemas.openxmlformats.org/officeDocument/2006/relationships/vmlDrawing" Target="../drawings/vmlDrawing7.vml"/><Relationship Id="rId6" Type="http://schemas.openxmlformats.org/officeDocument/2006/relationships/image" Target="../media/image20.png"/><Relationship Id="rId11" Type="http://schemas.openxmlformats.org/officeDocument/2006/relationships/oleObject" Target="../embeddings/oleObject23.bin"/><Relationship Id="rId5" Type="http://schemas.openxmlformats.org/officeDocument/2006/relationships/oleObject" Target="../embeddings/oleObject20.bin"/><Relationship Id="rId15" Type="http://schemas.openxmlformats.org/officeDocument/2006/relationships/oleObject" Target="../embeddings/oleObject25.bin"/><Relationship Id="rId10" Type="http://schemas.openxmlformats.org/officeDocument/2006/relationships/image" Target="../media/image22.png"/><Relationship Id="rId4" Type="http://schemas.openxmlformats.org/officeDocument/2006/relationships/image" Target="../media/image19.png"/><Relationship Id="rId9" Type="http://schemas.openxmlformats.org/officeDocument/2006/relationships/oleObject" Target="../embeddings/oleObject22.bin"/><Relationship Id="rId1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29.bin"/><Relationship Id="rId12" Type="http://schemas.openxmlformats.org/officeDocument/2006/relationships/image" Target="../media/image31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8.png"/><Relationship Id="rId11" Type="http://schemas.openxmlformats.org/officeDocument/2006/relationships/oleObject" Target="../embeddings/oleObject31.bin"/><Relationship Id="rId5" Type="http://schemas.openxmlformats.org/officeDocument/2006/relationships/oleObject" Target="../embeddings/oleObject28.bin"/><Relationship Id="rId10" Type="http://schemas.openxmlformats.org/officeDocument/2006/relationships/image" Target="../media/image30.png"/><Relationship Id="rId4" Type="http://schemas.openxmlformats.org/officeDocument/2006/relationships/image" Target="../media/image27.png"/><Relationship Id="rId9" Type="http://schemas.openxmlformats.org/officeDocument/2006/relationships/oleObject" Target="../embeddings/oleObject30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oleObject" Target="../embeddings/oleObject32.bin"/><Relationship Id="rId7" Type="http://schemas.openxmlformats.org/officeDocument/2006/relationships/oleObject" Target="../embeddings/oleObject3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33.png"/><Relationship Id="rId5" Type="http://schemas.openxmlformats.org/officeDocument/2006/relationships/oleObject" Target="../embeddings/oleObject33.bin"/><Relationship Id="rId10" Type="http://schemas.openxmlformats.org/officeDocument/2006/relationships/image" Target="../media/image35.png"/><Relationship Id="rId4" Type="http://schemas.openxmlformats.org/officeDocument/2006/relationships/image" Target="../media/image32.png"/><Relationship Id="rId9" Type="http://schemas.openxmlformats.org/officeDocument/2006/relationships/oleObject" Target="../embeddings/oleObject35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oleObject" Target="../embeddings/oleObject41.bin"/><Relationship Id="rId3" Type="http://schemas.openxmlformats.org/officeDocument/2006/relationships/oleObject" Target="../embeddings/oleObject36.bin"/><Relationship Id="rId7" Type="http://schemas.openxmlformats.org/officeDocument/2006/relationships/oleObject" Target="../embeddings/oleObject38.bin"/><Relationship Id="rId12" Type="http://schemas.openxmlformats.org/officeDocument/2006/relationships/image" Target="../media/image40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7.png"/><Relationship Id="rId11" Type="http://schemas.openxmlformats.org/officeDocument/2006/relationships/oleObject" Target="../embeddings/oleObject40.bin"/><Relationship Id="rId5" Type="http://schemas.openxmlformats.org/officeDocument/2006/relationships/oleObject" Target="../embeddings/oleObject37.bin"/><Relationship Id="rId10" Type="http://schemas.openxmlformats.org/officeDocument/2006/relationships/image" Target="../media/image39.png"/><Relationship Id="rId4" Type="http://schemas.openxmlformats.org/officeDocument/2006/relationships/image" Target="../media/image36.png"/><Relationship Id="rId9" Type="http://schemas.openxmlformats.org/officeDocument/2006/relationships/oleObject" Target="../embeddings/oleObject39.bin"/><Relationship Id="rId14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oleObject" Target="../embeddings/oleObject42.bin"/><Relationship Id="rId7" Type="http://schemas.openxmlformats.org/officeDocument/2006/relationships/oleObject" Target="../embeddings/oleObject4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3.png"/><Relationship Id="rId5" Type="http://schemas.openxmlformats.org/officeDocument/2006/relationships/oleObject" Target="../embeddings/oleObject43.bin"/><Relationship Id="rId10" Type="http://schemas.openxmlformats.org/officeDocument/2006/relationships/image" Target="../media/image45.png"/><Relationship Id="rId4" Type="http://schemas.openxmlformats.org/officeDocument/2006/relationships/image" Target="../media/image42.png"/><Relationship Id="rId9" Type="http://schemas.openxmlformats.org/officeDocument/2006/relationships/oleObject" Target="../embeddings/oleObject45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4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48.png"/><Relationship Id="rId5" Type="http://schemas.openxmlformats.org/officeDocument/2006/relationships/oleObject" Target="../embeddings/oleObject48.bin"/><Relationship Id="rId4" Type="http://schemas.openxmlformats.org/officeDocument/2006/relationships/image" Target="../media/image4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50.png"/><Relationship Id="rId5" Type="http://schemas.openxmlformats.org/officeDocument/2006/relationships/oleObject" Target="../embeddings/oleObject50.bin"/><Relationship Id="rId4" Type="http://schemas.openxmlformats.org/officeDocument/2006/relationships/image" Target="../media/image4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oleObject" Target="../embeddings/oleObject51.bin"/><Relationship Id="rId7" Type="http://schemas.openxmlformats.org/officeDocument/2006/relationships/oleObject" Target="../embeddings/oleObject5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52.png"/><Relationship Id="rId5" Type="http://schemas.openxmlformats.org/officeDocument/2006/relationships/oleObject" Target="../embeddings/oleObject52.bin"/><Relationship Id="rId4" Type="http://schemas.openxmlformats.org/officeDocument/2006/relationships/image" Target="../media/image5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oleObject" Target="../embeddings/oleObject54.bin"/><Relationship Id="rId7" Type="http://schemas.openxmlformats.org/officeDocument/2006/relationships/oleObject" Target="../embeddings/oleObject5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55.png"/><Relationship Id="rId5" Type="http://schemas.openxmlformats.org/officeDocument/2006/relationships/oleObject" Target="../embeddings/oleObject55.bin"/><Relationship Id="rId4" Type="http://schemas.openxmlformats.org/officeDocument/2006/relationships/image" Target="../media/image5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oleObject" Target="../embeddings/oleObject57.bin"/><Relationship Id="rId7" Type="http://schemas.openxmlformats.org/officeDocument/2006/relationships/oleObject" Target="../embeddings/oleObject59.bin"/><Relationship Id="rId12" Type="http://schemas.openxmlformats.org/officeDocument/2006/relationships/image" Target="../media/image61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58.png"/><Relationship Id="rId11" Type="http://schemas.openxmlformats.org/officeDocument/2006/relationships/oleObject" Target="../embeddings/oleObject61.bin"/><Relationship Id="rId5" Type="http://schemas.openxmlformats.org/officeDocument/2006/relationships/oleObject" Target="../embeddings/oleObject58.bin"/><Relationship Id="rId10" Type="http://schemas.openxmlformats.org/officeDocument/2006/relationships/image" Target="../media/image60.png"/><Relationship Id="rId4" Type="http://schemas.openxmlformats.org/officeDocument/2006/relationships/image" Target="../media/image57.png"/><Relationship Id="rId9" Type="http://schemas.openxmlformats.org/officeDocument/2006/relationships/oleObject" Target="../embeddings/oleObject60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WordArt 2"/>
          <p:cNvSpPr>
            <a:spLocks noChangeArrowheads="1" noChangeShapeType="1" noTextEdit="1"/>
          </p:cNvSpPr>
          <p:nvPr/>
        </p:nvSpPr>
        <p:spPr bwMode="auto">
          <a:xfrm>
            <a:off x="838200" y="2709863"/>
            <a:ext cx="7467600" cy="19431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pt-BR" sz="3600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0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/>
                  </a:outerShdw>
                </a:effectLst>
                <a:latin typeface="Arial Black"/>
              </a:rPr>
              <a:t>Exemplos de desenvolvimento </a:t>
            </a:r>
          </a:p>
          <a:p>
            <a:r>
              <a:rPr lang="pt-BR" sz="3600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0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/>
                  </a:outerShdw>
                </a:effectLst>
                <a:latin typeface="Arial Black"/>
              </a:rPr>
              <a:t>com a ferramenta DesignWorks 5</a:t>
            </a:r>
            <a:endParaRPr lang="en-GB" sz="3600" kern="10">
              <a:ln w="12700">
                <a:solidFill>
                  <a:srgbClr val="EAEAEA"/>
                </a:solidFill>
                <a:round/>
                <a:headEnd/>
                <a:tailEnd/>
              </a:ln>
              <a:gradFill rotWithShape="0">
                <a:gsLst>
                  <a:gs pos="0">
                    <a:srgbClr val="A603AB"/>
                  </a:gs>
                  <a:gs pos="12000">
                    <a:srgbClr val="E81766"/>
                  </a:gs>
                  <a:gs pos="27000">
                    <a:srgbClr val="EE3F17"/>
                  </a:gs>
                  <a:gs pos="48000">
                    <a:srgbClr val="FFFF00"/>
                  </a:gs>
                  <a:gs pos="64999">
                    <a:srgbClr val="1A8D48"/>
                  </a:gs>
                  <a:gs pos="78999">
                    <a:srgbClr val="0819FB"/>
                  </a:gs>
                  <a:gs pos="100000">
                    <a:srgbClr val="A603AB"/>
                  </a:gs>
                </a:gsLst>
                <a:lin ang="0" scaled="1"/>
              </a:gradFill>
              <a:effectLst>
                <a:outerShdw dist="35921" dir="2700000" sy="50000" kx="2115830" algn="bl" rotWithShape="0">
                  <a:srgbClr val="C0C0C0"/>
                </a:outerShdw>
              </a:effectLst>
              <a:latin typeface="Arial Black"/>
            </a:endParaRPr>
          </a:p>
        </p:txBody>
      </p:sp>
      <p:sp>
        <p:nvSpPr>
          <p:cNvPr id="2051" name="WordArt 3"/>
          <p:cNvSpPr>
            <a:spLocks noChangeArrowheads="1" noChangeShapeType="1" noTextEdit="1"/>
          </p:cNvSpPr>
          <p:nvPr/>
        </p:nvSpPr>
        <p:spPr bwMode="auto">
          <a:xfrm>
            <a:off x="1219200" y="533400"/>
            <a:ext cx="6400800" cy="1219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en-GB" sz="3600" kern="10">
                <a:ln w="12700">
                  <a:solidFill>
                    <a:srgbClr val="3333CC"/>
                  </a:solidFill>
                  <a:round/>
                  <a:headEnd/>
                  <a:tailEnd/>
                </a:ln>
                <a:solidFill>
                  <a:srgbClr val="B2B2B2">
                    <a:alpha val="50000"/>
                  </a:srgbClr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Arial Black"/>
              </a:rPr>
              <a:t>Tutorial</a:t>
            </a:r>
          </a:p>
        </p:txBody>
      </p:sp>
      <p:sp>
        <p:nvSpPr>
          <p:cNvPr id="2053" name="WordArt 5"/>
          <p:cNvSpPr>
            <a:spLocks noChangeArrowheads="1" noChangeShapeType="1" noTextEdit="1"/>
          </p:cNvSpPr>
          <p:nvPr/>
        </p:nvSpPr>
        <p:spPr bwMode="auto">
          <a:xfrm>
            <a:off x="2916238" y="5876925"/>
            <a:ext cx="3455987" cy="360363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en-GB" sz="3600" kern="10"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Iouliia </a:t>
            </a:r>
            <a:r>
              <a:rPr lang="en-GB" sz="3600" kern="10" smtClean="0"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Skliarova</a:t>
            </a:r>
            <a:endParaRPr lang="en-GB" sz="3600" kern="10">
              <a:solidFill>
                <a:srgbClr val="336699"/>
              </a:solidFill>
              <a:effectLst>
                <a:outerShdw dist="45791" dir="2021404" algn="ctr" rotWithShape="0">
                  <a:srgbClr val="B2B2B2">
                    <a:alpha val="80000"/>
                  </a:srgbClr>
                </a:outerShdw>
              </a:effectLst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44" name="Object 24"/>
          <p:cNvGraphicFramePr>
            <a:graphicFrameLocks noChangeAspect="1"/>
          </p:cNvGraphicFramePr>
          <p:nvPr/>
        </p:nvGraphicFramePr>
        <p:xfrm>
          <a:off x="0" y="-76200"/>
          <a:ext cx="9144000" cy="701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2" name="Bitmap Image" r:id="rId3" imgW="8704762" imgH="6676190" progId="Paint.Picture">
                  <p:embed/>
                </p:oleObj>
              </mc:Choice>
              <mc:Fallback>
                <p:oleObj name="Bitmap Image" r:id="rId3" imgW="8704762" imgH="6676190" progId="Paint.Picture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-76200"/>
                        <a:ext cx="9144000" cy="7013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4" name="AutoShape 4"/>
          <p:cNvSpPr>
            <a:spLocks noChangeArrowheads="1"/>
          </p:cNvSpPr>
          <p:nvPr/>
        </p:nvSpPr>
        <p:spPr bwMode="auto">
          <a:xfrm>
            <a:off x="6804025" y="3933825"/>
            <a:ext cx="2136775" cy="647700"/>
          </a:xfrm>
          <a:prstGeom prst="flowChartAlternateProcess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80000"/>
              </a:lnSpc>
            </a:pPr>
            <a:r>
              <a:rPr lang="pt-PT" sz="2200" b="0">
                <a:solidFill>
                  <a:srgbClr val="000066"/>
                </a:solidFill>
                <a:latin typeface="Arial" charset="0"/>
              </a:rPr>
              <a:t>Bibliotecas de </a:t>
            </a:r>
          </a:p>
          <a:p>
            <a:pPr>
              <a:lnSpc>
                <a:spcPct val="80000"/>
              </a:lnSpc>
            </a:pPr>
            <a:r>
              <a:rPr lang="pt-PT" sz="2200" b="0">
                <a:solidFill>
                  <a:srgbClr val="000066"/>
                </a:solidFill>
                <a:latin typeface="Arial" charset="0"/>
              </a:rPr>
              <a:t>componentes</a:t>
            </a:r>
            <a:endParaRPr lang="en-US" sz="2200">
              <a:solidFill>
                <a:srgbClr val="000066"/>
              </a:solidFill>
              <a:latin typeface="Arial" charset="0"/>
            </a:endParaRPr>
          </a:p>
        </p:txBody>
      </p:sp>
      <p:sp>
        <p:nvSpPr>
          <p:cNvPr id="30727" name="AutoShape 7"/>
          <p:cNvSpPr>
            <a:spLocks noChangeArrowheads="1"/>
          </p:cNvSpPr>
          <p:nvPr/>
        </p:nvSpPr>
        <p:spPr bwMode="auto">
          <a:xfrm>
            <a:off x="1979613" y="3644900"/>
            <a:ext cx="3744912" cy="647700"/>
          </a:xfrm>
          <a:prstGeom prst="flowChartAlternateProcess">
            <a:avLst/>
          </a:prstGeom>
          <a:solidFill>
            <a:srgbClr val="CCECFF"/>
          </a:solidFill>
          <a:ln w="9525">
            <a:solidFill>
              <a:srgbClr val="CCFF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pt-PT" sz="2200" b="0">
                <a:solidFill>
                  <a:srgbClr val="000066"/>
                </a:solidFill>
                <a:latin typeface="Arial" charset="0"/>
              </a:rPr>
              <a:t>Edição de esquemas</a:t>
            </a:r>
          </a:p>
        </p:txBody>
      </p:sp>
      <p:sp>
        <p:nvSpPr>
          <p:cNvPr id="30732" name="AutoShape 12"/>
          <p:cNvSpPr>
            <a:spLocks noChangeArrowheads="1"/>
          </p:cNvSpPr>
          <p:nvPr/>
        </p:nvSpPr>
        <p:spPr bwMode="auto">
          <a:xfrm>
            <a:off x="2797175" y="6094413"/>
            <a:ext cx="5878513" cy="358775"/>
          </a:xfrm>
          <a:prstGeom prst="flowChartAlternateProcess">
            <a:avLst/>
          </a:prstGeom>
          <a:solidFill>
            <a:srgbClr val="FFCCCC"/>
          </a:solidFill>
          <a:ln w="9525">
            <a:solidFill>
              <a:srgbClr val="FFCC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80000"/>
              </a:lnSpc>
            </a:pPr>
            <a:r>
              <a:rPr lang="pt-PT" sz="2200" b="0">
                <a:solidFill>
                  <a:srgbClr val="000066"/>
                </a:solidFill>
                <a:latin typeface="Arial" charset="0"/>
              </a:rPr>
              <a:t>Janela </a:t>
            </a:r>
            <a:r>
              <a:rPr lang="pt-PT" sz="2200" b="0" i="1">
                <a:solidFill>
                  <a:srgbClr val="000066"/>
                </a:solidFill>
                <a:latin typeface="Arial" charset="0"/>
              </a:rPr>
              <a:t>Timing </a:t>
            </a:r>
            <a:r>
              <a:rPr lang="pt-PT" sz="2200" b="0">
                <a:solidFill>
                  <a:srgbClr val="000066"/>
                </a:solidFill>
                <a:latin typeface="Arial" charset="0"/>
              </a:rPr>
              <a:t>– resultados de simulação</a:t>
            </a:r>
            <a:endParaRPr lang="en-US" sz="2200" b="0">
              <a:solidFill>
                <a:srgbClr val="000066"/>
              </a:solidFill>
              <a:latin typeface="Arial" charset="0"/>
            </a:endParaRPr>
          </a:p>
        </p:txBody>
      </p:sp>
      <p:sp>
        <p:nvSpPr>
          <p:cNvPr id="30740" name="WordArt 20"/>
          <p:cNvSpPr>
            <a:spLocks noChangeArrowheads="1" noChangeShapeType="1" noTextEdit="1"/>
          </p:cNvSpPr>
          <p:nvPr/>
        </p:nvSpPr>
        <p:spPr bwMode="auto">
          <a:xfrm>
            <a:off x="1331913" y="1484313"/>
            <a:ext cx="3527425" cy="504825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en-GB" sz="3600" kern="10" spc="720">
                <a:solidFill>
                  <a:srgbClr val="6699FF"/>
                </a:soli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Arial Black"/>
              </a:rPr>
              <a:t>Janela principal</a:t>
            </a:r>
          </a:p>
        </p:txBody>
      </p:sp>
      <p:grpSp>
        <p:nvGrpSpPr>
          <p:cNvPr id="30743" name="Group 23"/>
          <p:cNvGrpSpPr>
            <a:grpSpLocks/>
          </p:cNvGrpSpPr>
          <p:nvPr/>
        </p:nvGrpSpPr>
        <p:grpSpPr bwMode="auto">
          <a:xfrm>
            <a:off x="0" y="260350"/>
            <a:ext cx="8172450" cy="2663825"/>
            <a:chOff x="0" y="164"/>
            <a:chExt cx="4967" cy="1678"/>
          </a:xfrm>
        </p:grpSpPr>
        <p:sp>
          <p:nvSpPr>
            <p:cNvPr id="30729" name="Rectangle 9"/>
            <p:cNvSpPr>
              <a:spLocks noChangeArrowheads="1"/>
            </p:cNvSpPr>
            <p:nvPr/>
          </p:nvSpPr>
          <p:spPr bwMode="auto">
            <a:xfrm>
              <a:off x="0" y="164"/>
              <a:ext cx="4967" cy="590"/>
            </a:xfrm>
            <a:prstGeom prst="rect">
              <a:avLst/>
            </a:prstGeom>
            <a:noFill/>
            <a:ln w="28575">
              <a:solidFill>
                <a:srgbClr val="6699FF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0730" name="Line 10"/>
            <p:cNvSpPr>
              <a:spLocks noChangeShapeType="1"/>
            </p:cNvSpPr>
            <p:nvPr/>
          </p:nvSpPr>
          <p:spPr bwMode="auto">
            <a:xfrm flipH="1" flipV="1">
              <a:off x="2200" y="754"/>
              <a:ext cx="635" cy="816"/>
            </a:xfrm>
            <a:prstGeom prst="line">
              <a:avLst/>
            </a:prstGeom>
            <a:noFill/>
            <a:ln w="38100">
              <a:solidFill>
                <a:srgbClr val="6699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741" name="WordArt 21"/>
            <p:cNvSpPr>
              <a:spLocks noChangeArrowheads="1" noChangeShapeType="1" noTextEdit="1"/>
            </p:cNvSpPr>
            <p:nvPr/>
          </p:nvSpPr>
          <p:spPr bwMode="auto">
            <a:xfrm>
              <a:off x="2699" y="1615"/>
              <a:ext cx="816" cy="227"/>
            </a:xfrm>
            <a:prstGeom prst="rect">
              <a:avLst/>
            </a:prstGeom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GB" sz="3600" kern="10" spc="720">
                  <a:solidFill>
                    <a:srgbClr val="6699FF"/>
                  </a:solidFill>
                  <a:effectLst>
                    <a:outerShdw dist="45791" dir="3378596" algn="ctr" rotWithShape="0">
                      <a:srgbClr val="4D4D4D">
                        <a:alpha val="80000"/>
                      </a:srgbClr>
                    </a:outerShdw>
                  </a:effectLst>
                  <a:latin typeface="Arial Black"/>
                </a:rPr>
                <a:t>Menu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7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7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0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30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07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07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07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07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0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0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4" grpId="0" animBg="1" autoUpdateAnimBg="0"/>
      <p:bldP spid="30727" grpId="0" animBg="1" autoUpdateAnimBg="0"/>
      <p:bldP spid="30732" grpId="0" animBg="1" autoUpdateAnimBg="0"/>
      <p:bldP spid="3074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90" name="Object 118"/>
          <p:cNvGraphicFramePr>
            <a:graphicFrameLocks noChangeAspect="1"/>
          </p:cNvGraphicFramePr>
          <p:nvPr/>
        </p:nvGraphicFramePr>
        <p:xfrm>
          <a:off x="468313" y="2447925"/>
          <a:ext cx="5476875" cy="407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3" name="Bitmap Image" r:id="rId3" imgW="5477640" imgH="4076190" progId="Paint.Picture">
                  <p:embed/>
                </p:oleObj>
              </mc:Choice>
              <mc:Fallback>
                <p:oleObj name="Bitmap Image" r:id="rId3" imgW="5477640" imgH="4076190" progId="Paint.Picture">
                  <p:embed/>
                  <p:pic>
                    <p:nvPicPr>
                      <p:cNvPr id="0" name="Object 1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2447925"/>
                        <a:ext cx="5476875" cy="407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212725" y="163513"/>
            <a:ext cx="69977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pt-PT" sz="2000">
                <a:solidFill>
                  <a:srgbClr val="FF3300"/>
                </a:solidFill>
                <a:latin typeface="Arial" charset="0"/>
              </a:rPr>
              <a:t>Exemplo</a:t>
            </a:r>
            <a:r>
              <a:rPr lang="en-US" sz="2000">
                <a:solidFill>
                  <a:srgbClr val="FF3300"/>
                </a:solidFill>
                <a:latin typeface="Arial" charset="0"/>
              </a:rPr>
              <a:t> 1</a:t>
            </a:r>
            <a:r>
              <a:rPr lang="en-US" sz="2000" b="0">
                <a:latin typeface="Arial" charset="0"/>
              </a:rPr>
              <a:t>. </a:t>
            </a:r>
            <a:r>
              <a:rPr lang="pt-PT" sz="2000" b="0">
                <a:latin typeface="Arial" charset="0"/>
              </a:rPr>
              <a:t>Construção de um circuito combinatório simples</a:t>
            </a:r>
            <a:endParaRPr lang="en-US" sz="2000" b="0">
              <a:latin typeface="Arial" charset="0"/>
            </a:endParaRPr>
          </a:p>
        </p:txBody>
      </p:sp>
      <p:sp>
        <p:nvSpPr>
          <p:cNvPr id="3114" name="Text Box 42"/>
          <p:cNvSpPr txBox="1">
            <a:spLocks noChangeArrowheads="1"/>
          </p:cNvSpPr>
          <p:nvPr/>
        </p:nvSpPr>
        <p:spPr bwMode="auto">
          <a:xfrm>
            <a:off x="288925" y="650875"/>
            <a:ext cx="86264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pt-PT" sz="2000" b="0">
                <a:latin typeface="Arial" charset="0"/>
              </a:rPr>
              <a:t>O exemplo ilustra todos os passos necessários para construir e simular um oscilador.</a:t>
            </a:r>
            <a:endParaRPr lang="en-US" sz="2000" b="0">
              <a:latin typeface="Arial" charset="0"/>
            </a:endParaRPr>
          </a:p>
        </p:txBody>
      </p:sp>
      <p:grpSp>
        <p:nvGrpSpPr>
          <p:cNvPr id="3195" name="Group 123"/>
          <p:cNvGrpSpPr>
            <a:grpSpLocks/>
          </p:cNvGrpSpPr>
          <p:nvPr/>
        </p:nvGrpSpPr>
        <p:grpSpPr bwMode="auto">
          <a:xfrm>
            <a:off x="3059113" y="3352800"/>
            <a:ext cx="5989637" cy="581025"/>
            <a:chOff x="1927" y="2112"/>
            <a:chExt cx="3773" cy="366"/>
          </a:xfrm>
        </p:grpSpPr>
        <p:sp>
          <p:nvSpPr>
            <p:cNvPr id="3181" name="Text Box 109"/>
            <p:cNvSpPr txBox="1">
              <a:spLocks noChangeArrowheads="1"/>
            </p:cNvSpPr>
            <p:nvPr/>
          </p:nvSpPr>
          <p:spPr bwMode="auto">
            <a:xfrm>
              <a:off x="4105" y="2112"/>
              <a:ext cx="1595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pt-PT" sz="1600" b="0" dirty="0" smtClean="0">
                  <a:latin typeface="Arial" charset="0"/>
                </a:rPr>
                <a:t>Selecione </a:t>
              </a:r>
              <a:r>
                <a:rPr lang="pt-PT" sz="1600" b="0" dirty="0">
                  <a:latin typeface="Arial" charset="0"/>
                </a:rPr>
                <a:t>a opção </a:t>
              </a:r>
              <a:r>
                <a:rPr lang="pt-PT" sz="1600" b="0" i="1" dirty="0">
                  <a:latin typeface="Arial" charset="0"/>
                </a:rPr>
                <a:t>Generic Simulation</a:t>
              </a:r>
              <a:endParaRPr lang="en-US" sz="1600" b="0" dirty="0">
                <a:latin typeface="Arial" charset="0"/>
              </a:endParaRPr>
            </a:p>
          </p:txBody>
        </p:sp>
        <p:sp>
          <p:nvSpPr>
            <p:cNvPr id="3183" name="Oval 111"/>
            <p:cNvSpPr>
              <a:spLocks noChangeArrowheads="1"/>
            </p:cNvSpPr>
            <p:nvPr/>
          </p:nvSpPr>
          <p:spPr bwMode="auto">
            <a:xfrm>
              <a:off x="3969" y="2115"/>
              <a:ext cx="288" cy="288"/>
            </a:xfrm>
            <a:prstGeom prst="ellipse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pt-PT" sz="2000" b="0">
                  <a:latin typeface="Arial" charset="0"/>
                </a:rPr>
                <a:t>2</a:t>
              </a:r>
              <a:endParaRPr lang="en-US" sz="2000" b="0">
                <a:latin typeface="Arial" charset="0"/>
              </a:endParaRPr>
            </a:p>
          </p:txBody>
        </p:sp>
        <p:sp>
          <p:nvSpPr>
            <p:cNvPr id="3184" name="Line 112"/>
            <p:cNvSpPr>
              <a:spLocks noChangeShapeType="1"/>
            </p:cNvSpPr>
            <p:nvPr/>
          </p:nvSpPr>
          <p:spPr bwMode="auto">
            <a:xfrm flipH="1">
              <a:off x="1927" y="2296"/>
              <a:ext cx="2042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3188" name="Group 116"/>
          <p:cNvGrpSpPr>
            <a:grpSpLocks/>
          </p:cNvGrpSpPr>
          <p:nvPr/>
        </p:nvGrpSpPr>
        <p:grpSpPr bwMode="auto">
          <a:xfrm>
            <a:off x="4716463" y="5157788"/>
            <a:ext cx="5195887" cy="1144587"/>
            <a:chOff x="2472" y="1938"/>
            <a:chExt cx="3273" cy="721"/>
          </a:xfrm>
        </p:grpSpPr>
        <p:sp>
          <p:nvSpPr>
            <p:cNvPr id="3185" name="Text Box 113"/>
            <p:cNvSpPr txBox="1">
              <a:spLocks noChangeArrowheads="1"/>
            </p:cNvSpPr>
            <p:nvPr/>
          </p:nvSpPr>
          <p:spPr bwMode="auto">
            <a:xfrm>
              <a:off x="4150" y="1979"/>
              <a:ext cx="159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pt-PT" sz="1600" b="0">
                  <a:latin typeface="Arial" charset="0"/>
                </a:rPr>
                <a:t>  Clique no OK</a:t>
              </a:r>
              <a:endParaRPr lang="en-US" sz="1600" b="0">
                <a:latin typeface="Arial" charset="0"/>
              </a:endParaRPr>
            </a:p>
          </p:txBody>
        </p:sp>
        <p:sp>
          <p:nvSpPr>
            <p:cNvPr id="3186" name="Oval 114"/>
            <p:cNvSpPr>
              <a:spLocks noChangeArrowheads="1"/>
            </p:cNvSpPr>
            <p:nvPr/>
          </p:nvSpPr>
          <p:spPr bwMode="auto">
            <a:xfrm>
              <a:off x="3900" y="1938"/>
              <a:ext cx="288" cy="288"/>
            </a:xfrm>
            <a:prstGeom prst="ellipse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pt-PT" sz="2000" b="0">
                  <a:latin typeface="Arial" charset="0"/>
                </a:rPr>
                <a:t>3</a:t>
              </a:r>
              <a:endParaRPr lang="en-US" sz="2000" b="0">
                <a:latin typeface="Arial" charset="0"/>
              </a:endParaRPr>
            </a:p>
          </p:txBody>
        </p:sp>
        <p:sp>
          <p:nvSpPr>
            <p:cNvPr id="3187" name="Line 115"/>
            <p:cNvSpPr>
              <a:spLocks noChangeShapeType="1"/>
            </p:cNvSpPr>
            <p:nvPr/>
          </p:nvSpPr>
          <p:spPr bwMode="auto">
            <a:xfrm flipH="1">
              <a:off x="2472" y="2178"/>
              <a:ext cx="1476" cy="4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3194" name="Group 122"/>
          <p:cNvGrpSpPr>
            <a:grpSpLocks/>
          </p:cNvGrpSpPr>
          <p:nvPr/>
        </p:nvGrpSpPr>
        <p:grpSpPr bwMode="auto">
          <a:xfrm>
            <a:off x="2555875" y="1484313"/>
            <a:ext cx="3684588" cy="1368425"/>
            <a:chOff x="1610" y="935"/>
            <a:chExt cx="2321" cy="862"/>
          </a:xfrm>
        </p:grpSpPr>
        <p:sp>
          <p:nvSpPr>
            <p:cNvPr id="3191" name="Text Box 119"/>
            <p:cNvSpPr txBox="1">
              <a:spLocks noChangeArrowheads="1"/>
            </p:cNvSpPr>
            <p:nvPr/>
          </p:nvSpPr>
          <p:spPr bwMode="auto">
            <a:xfrm>
              <a:off x="2336" y="935"/>
              <a:ext cx="1595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pt-PT" sz="1600" b="0" dirty="0" smtClean="0">
                  <a:latin typeface="Arial" charset="0"/>
                </a:rPr>
                <a:t>Selecione </a:t>
              </a:r>
              <a:r>
                <a:rPr lang="pt-PT" sz="1600" b="0" dirty="0">
                  <a:latin typeface="Arial" charset="0"/>
                </a:rPr>
                <a:t>a </a:t>
              </a:r>
              <a:r>
                <a:rPr lang="pt-PT" sz="1600" b="0" i="1" dirty="0">
                  <a:latin typeface="Arial" charset="0"/>
                </a:rPr>
                <a:t>tab</a:t>
              </a:r>
            </a:p>
            <a:p>
              <a:r>
                <a:rPr lang="pt-PT" sz="1600" b="0" i="1" dirty="0">
                  <a:latin typeface="Arial" charset="0"/>
                </a:rPr>
                <a:t>Create/Open Design</a:t>
              </a:r>
              <a:endParaRPr lang="en-US" sz="1600" b="0" dirty="0">
                <a:latin typeface="Arial" charset="0"/>
              </a:endParaRPr>
            </a:p>
          </p:txBody>
        </p:sp>
        <p:sp>
          <p:nvSpPr>
            <p:cNvPr id="3192" name="Oval 120"/>
            <p:cNvSpPr>
              <a:spLocks noChangeArrowheads="1"/>
            </p:cNvSpPr>
            <p:nvPr/>
          </p:nvSpPr>
          <p:spPr bwMode="auto">
            <a:xfrm>
              <a:off x="2200" y="938"/>
              <a:ext cx="288" cy="288"/>
            </a:xfrm>
            <a:prstGeom prst="ellipse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pt-PT" sz="2000" b="0">
                  <a:latin typeface="Arial" charset="0"/>
                </a:rPr>
                <a:t>1</a:t>
              </a:r>
              <a:endParaRPr lang="en-US" sz="2000" b="0">
                <a:latin typeface="Arial" charset="0"/>
              </a:endParaRPr>
            </a:p>
          </p:txBody>
        </p:sp>
        <p:sp>
          <p:nvSpPr>
            <p:cNvPr id="3193" name="Line 121"/>
            <p:cNvSpPr>
              <a:spLocks noChangeShapeType="1"/>
            </p:cNvSpPr>
            <p:nvPr/>
          </p:nvSpPr>
          <p:spPr bwMode="auto">
            <a:xfrm flipH="1">
              <a:off x="1610" y="1207"/>
              <a:ext cx="635" cy="5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0" dur="500"/>
                                        <p:tgtEl>
                                          <p:spTgt spid="3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5" dur="500"/>
                                        <p:tgtEl>
                                          <p:spTgt spid="3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0" dur="500"/>
                                        <p:tgtEl>
                                          <p:spTgt spid="3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14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067" name="Object 35"/>
          <p:cNvGraphicFramePr>
            <a:graphicFrameLocks noChangeAspect="1"/>
          </p:cNvGraphicFramePr>
          <p:nvPr/>
        </p:nvGraphicFramePr>
        <p:xfrm>
          <a:off x="477838" y="1268413"/>
          <a:ext cx="2292350" cy="2808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96" name="Bitmap Image" r:id="rId3" imgW="1943371" imgH="2381582" progId="Paint.Picture">
                  <p:embed/>
                </p:oleObj>
              </mc:Choice>
              <mc:Fallback>
                <p:oleObj name="Bitmap Image" r:id="rId3" imgW="1943371" imgH="2381582" progId="Paint.Picture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838" y="1268413"/>
                        <a:ext cx="2292350" cy="2808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7" name="Object 5"/>
          <p:cNvGraphicFramePr>
            <a:graphicFrameLocks noChangeAspect="1"/>
          </p:cNvGraphicFramePr>
          <p:nvPr/>
        </p:nvGraphicFramePr>
        <p:xfrm>
          <a:off x="4078288" y="1903413"/>
          <a:ext cx="3362325" cy="247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97" name="Bitmap Image" r:id="rId5" imgW="3362794" imgH="2476190" progId="Paint.Picture">
                  <p:embed/>
                </p:oleObj>
              </mc:Choice>
              <mc:Fallback>
                <p:oleObj name="Bitmap Image" r:id="rId5" imgW="3362794" imgH="2476190" progId="Paint.Picture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8288" y="1903413"/>
                        <a:ext cx="3362325" cy="2476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4038" name="Group 6"/>
          <p:cNvGrpSpPr>
            <a:grpSpLocks/>
          </p:cNvGrpSpPr>
          <p:nvPr/>
        </p:nvGrpSpPr>
        <p:grpSpPr bwMode="auto">
          <a:xfrm>
            <a:off x="2401888" y="549275"/>
            <a:ext cx="3048000" cy="2209800"/>
            <a:chOff x="1584" y="960"/>
            <a:chExt cx="1920" cy="1392"/>
          </a:xfrm>
        </p:grpSpPr>
        <p:sp>
          <p:nvSpPr>
            <p:cNvPr id="44039" name="Text Box 7"/>
            <p:cNvSpPr txBox="1">
              <a:spLocks noChangeArrowheads="1"/>
            </p:cNvSpPr>
            <p:nvPr/>
          </p:nvSpPr>
          <p:spPr bwMode="auto">
            <a:xfrm>
              <a:off x="2544" y="960"/>
              <a:ext cx="960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pt-PT" sz="1600" b="0" dirty="0" smtClean="0">
                  <a:latin typeface="Arial" charset="0"/>
                </a:rPr>
                <a:t>Selecione </a:t>
              </a:r>
              <a:r>
                <a:rPr lang="pt-PT" sz="1600" b="0" dirty="0">
                  <a:latin typeface="Arial" charset="0"/>
                </a:rPr>
                <a:t>uma biblioteca</a:t>
              </a:r>
              <a:endParaRPr lang="en-US" sz="1600" b="0" dirty="0">
                <a:latin typeface="Arial" charset="0"/>
              </a:endParaRPr>
            </a:p>
          </p:txBody>
        </p:sp>
        <p:grpSp>
          <p:nvGrpSpPr>
            <p:cNvPr id="44040" name="Group 8"/>
            <p:cNvGrpSpPr>
              <a:grpSpLocks/>
            </p:cNvGrpSpPr>
            <p:nvPr/>
          </p:nvGrpSpPr>
          <p:grpSpPr bwMode="auto">
            <a:xfrm>
              <a:off x="1584" y="1056"/>
              <a:ext cx="960" cy="1296"/>
              <a:chOff x="1584" y="1056"/>
              <a:chExt cx="960" cy="1296"/>
            </a:xfrm>
          </p:grpSpPr>
          <p:sp>
            <p:nvSpPr>
              <p:cNvPr id="44041" name="Oval 9"/>
              <p:cNvSpPr>
                <a:spLocks noChangeArrowheads="1"/>
              </p:cNvSpPr>
              <p:nvPr/>
            </p:nvSpPr>
            <p:spPr bwMode="auto">
              <a:xfrm>
                <a:off x="2256" y="1056"/>
                <a:ext cx="288" cy="288"/>
              </a:xfrm>
              <a:prstGeom prst="ellipse">
                <a:avLst/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pt-PT" sz="2000" b="0">
                    <a:latin typeface="Arial" charset="0"/>
                  </a:rPr>
                  <a:t>4</a:t>
                </a:r>
                <a:endParaRPr lang="en-US" sz="2000" b="0">
                  <a:latin typeface="Arial" charset="0"/>
                </a:endParaRPr>
              </a:p>
            </p:txBody>
          </p:sp>
          <p:sp>
            <p:nvSpPr>
              <p:cNvPr id="44042" name="Line 10"/>
              <p:cNvSpPr>
                <a:spLocks noChangeShapeType="1"/>
              </p:cNvSpPr>
              <p:nvPr/>
            </p:nvSpPr>
            <p:spPr bwMode="auto">
              <a:xfrm flipH="1">
                <a:off x="1584" y="1296"/>
                <a:ext cx="720" cy="10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</p:grpSp>
      <p:grpSp>
        <p:nvGrpSpPr>
          <p:cNvPr id="44043" name="Group 11"/>
          <p:cNvGrpSpPr>
            <a:grpSpLocks/>
          </p:cNvGrpSpPr>
          <p:nvPr/>
        </p:nvGrpSpPr>
        <p:grpSpPr bwMode="auto">
          <a:xfrm>
            <a:off x="4535488" y="4722813"/>
            <a:ext cx="1457325" cy="638175"/>
            <a:chOff x="2928" y="3360"/>
            <a:chExt cx="918" cy="402"/>
          </a:xfrm>
        </p:grpSpPr>
        <p:graphicFrame>
          <p:nvGraphicFramePr>
            <p:cNvPr id="44044" name="Object 12"/>
            <p:cNvGraphicFramePr>
              <a:graphicFrameLocks noChangeAspect="1"/>
            </p:cNvGraphicFramePr>
            <p:nvPr/>
          </p:nvGraphicFramePr>
          <p:xfrm>
            <a:off x="2928" y="3360"/>
            <a:ext cx="324" cy="4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098" name="Bitmap Image" r:id="rId7" imgW="514422" imgH="638264" progId="Paint.Picture">
                    <p:embed/>
                  </p:oleObj>
                </mc:Choice>
                <mc:Fallback>
                  <p:oleObj name="Bitmap Image" r:id="rId7" imgW="514422" imgH="638264" progId="Paint.Picture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28" y="3360"/>
                          <a:ext cx="324" cy="4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045" name="Object 13"/>
            <p:cNvGraphicFramePr>
              <a:graphicFrameLocks noChangeAspect="1"/>
            </p:cNvGraphicFramePr>
            <p:nvPr/>
          </p:nvGraphicFramePr>
          <p:xfrm>
            <a:off x="3456" y="3456"/>
            <a:ext cx="390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099" name="Bitmap Image" r:id="rId9" imgW="619211" imgH="323981" progId="Paint.Picture">
                    <p:embed/>
                  </p:oleObj>
                </mc:Choice>
                <mc:Fallback>
                  <p:oleObj name="Bitmap Image" r:id="rId9" imgW="619211" imgH="323981" progId="Paint.Picture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6" y="3456"/>
                          <a:ext cx="390" cy="2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4046" name="Group 14"/>
          <p:cNvGrpSpPr>
            <a:grpSpLocks/>
          </p:cNvGrpSpPr>
          <p:nvPr/>
        </p:nvGrpSpPr>
        <p:grpSpPr bwMode="auto">
          <a:xfrm>
            <a:off x="6516688" y="836613"/>
            <a:ext cx="2317750" cy="1676400"/>
            <a:chOff x="4176" y="912"/>
            <a:chExt cx="1460" cy="1056"/>
          </a:xfrm>
        </p:grpSpPr>
        <p:grpSp>
          <p:nvGrpSpPr>
            <p:cNvPr id="44047" name="Group 15"/>
            <p:cNvGrpSpPr>
              <a:grpSpLocks/>
            </p:cNvGrpSpPr>
            <p:nvPr/>
          </p:nvGrpSpPr>
          <p:grpSpPr bwMode="auto">
            <a:xfrm>
              <a:off x="4656" y="1200"/>
              <a:ext cx="960" cy="768"/>
              <a:chOff x="4656" y="1200"/>
              <a:chExt cx="960" cy="768"/>
            </a:xfrm>
          </p:grpSpPr>
          <p:sp>
            <p:nvSpPr>
              <p:cNvPr id="44048" name="Oval 16"/>
              <p:cNvSpPr>
                <a:spLocks noChangeArrowheads="1"/>
              </p:cNvSpPr>
              <p:nvPr/>
            </p:nvSpPr>
            <p:spPr bwMode="auto">
              <a:xfrm>
                <a:off x="5328" y="1200"/>
                <a:ext cx="288" cy="288"/>
              </a:xfrm>
              <a:prstGeom prst="ellipse">
                <a:avLst/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pt-PT" sz="2000" b="0">
                    <a:latin typeface="Arial" charset="0"/>
                  </a:rPr>
                  <a:t>5</a:t>
                </a:r>
                <a:endParaRPr lang="en-US" sz="2000" b="0">
                  <a:latin typeface="Arial" charset="0"/>
                </a:endParaRPr>
              </a:p>
            </p:txBody>
          </p:sp>
          <p:sp>
            <p:nvSpPr>
              <p:cNvPr id="44049" name="Line 17"/>
              <p:cNvSpPr>
                <a:spLocks noChangeShapeType="1"/>
              </p:cNvSpPr>
              <p:nvPr/>
            </p:nvSpPr>
            <p:spPr bwMode="auto">
              <a:xfrm flipH="1">
                <a:off x="4656" y="1488"/>
                <a:ext cx="768" cy="4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44050" name="Text Box 18"/>
            <p:cNvSpPr txBox="1">
              <a:spLocks noChangeArrowheads="1"/>
            </p:cNvSpPr>
            <p:nvPr/>
          </p:nvSpPr>
          <p:spPr bwMode="auto">
            <a:xfrm>
              <a:off x="4176" y="912"/>
              <a:ext cx="1460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pt-PT" sz="1600" b="0" dirty="0">
                  <a:latin typeface="Arial" charset="0"/>
                </a:rPr>
                <a:t>Filtro para </a:t>
              </a:r>
              <a:r>
                <a:rPr lang="pt-PT" sz="1600" b="0" dirty="0" smtClean="0">
                  <a:latin typeface="Arial" charset="0"/>
                </a:rPr>
                <a:t>pré-seleção</a:t>
              </a:r>
              <a:endParaRPr lang="pt-PT" sz="1600" b="0" dirty="0">
                <a:latin typeface="Arial" charset="0"/>
              </a:endParaRPr>
            </a:p>
            <a:p>
              <a:r>
                <a:rPr lang="pt-PT" sz="1600" b="0" dirty="0">
                  <a:latin typeface="Arial" charset="0"/>
                </a:rPr>
                <a:t>de símbolos</a:t>
              </a:r>
              <a:endParaRPr lang="en-US" sz="1600" b="0" dirty="0">
                <a:latin typeface="Arial" charset="0"/>
              </a:endParaRPr>
            </a:p>
          </p:txBody>
        </p:sp>
      </p:grpSp>
      <p:grpSp>
        <p:nvGrpSpPr>
          <p:cNvPr id="44051" name="Group 19"/>
          <p:cNvGrpSpPr>
            <a:grpSpLocks/>
          </p:cNvGrpSpPr>
          <p:nvPr/>
        </p:nvGrpSpPr>
        <p:grpSpPr bwMode="auto">
          <a:xfrm>
            <a:off x="7126288" y="2589213"/>
            <a:ext cx="1814512" cy="2657475"/>
            <a:chOff x="4560" y="2016"/>
            <a:chExt cx="1143" cy="1674"/>
          </a:xfrm>
        </p:grpSpPr>
        <p:grpSp>
          <p:nvGrpSpPr>
            <p:cNvPr id="44052" name="Group 20"/>
            <p:cNvGrpSpPr>
              <a:grpSpLocks/>
            </p:cNvGrpSpPr>
            <p:nvPr/>
          </p:nvGrpSpPr>
          <p:grpSpPr bwMode="auto">
            <a:xfrm>
              <a:off x="4560" y="2016"/>
              <a:ext cx="864" cy="624"/>
              <a:chOff x="4560" y="2016"/>
              <a:chExt cx="864" cy="624"/>
            </a:xfrm>
          </p:grpSpPr>
          <p:sp>
            <p:nvSpPr>
              <p:cNvPr id="44053" name="Oval 21"/>
              <p:cNvSpPr>
                <a:spLocks noChangeArrowheads="1"/>
              </p:cNvSpPr>
              <p:nvPr/>
            </p:nvSpPr>
            <p:spPr bwMode="auto">
              <a:xfrm>
                <a:off x="5136" y="2016"/>
                <a:ext cx="288" cy="288"/>
              </a:xfrm>
              <a:prstGeom prst="ellipse">
                <a:avLst/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pt-PT" sz="2000" b="0">
                    <a:latin typeface="Arial" charset="0"/>
                  </a:rPr>
                  <a:t>6</a:t>
                </a:r>
                <a:endParaRPr lang="en-US" sz="2000" b="0">
                  <a:latin typeface="Arial" charset="0"/>
                </a:endParaRPr>
              </a:p>
            </p:txBody>
          </p:sp>
          <p:sp>
            <p:nvSpPr>
              <p:cNvPr id="44054" name="Line 22"/>
              <p:cNvSpPr>
                <a:spLocks noChangeShapeType="1"/>
              </p:cNvSpPr>
              <p:nvPr/>
            </p:nvSpPr>
            <p:spPr bwMode="auto">
              <a:xfrm flipH="1">
                <a:off x="4560" y="2256"/>
                <a:ext cx="624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44055" name="Text Box 23"/>
            <p:cNvSpPr txBox="1">
              <a:spLocks noChangeArrowheads="1"/>
            </p:cNvSpPr>
            <p:nvPr/>
          </p:nvSpPr>
          <p:spPr bwMode="auto">
            <a:xfrm>
              <a:off x="4800" y="2400"/>
              <a:ext cx="903" cy="1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pt-PT" sz="1600" b="0">
                  <a:latin typeface="Arial" charset="0"/>
                </a:rPr>
                <a:t>Escolha o símbolo</a:t>
              </a:r>
            </a:p>
            <a:p>
              <a:r>
                <a:rPr lang="pt-PT" sz="1600" b="0">
                  <a:latin typeface="Arial" charset="0"/>
                </a:rPr>
                <a:t>desejado clicando duas vezes com o botão esquerdo do rato</a:t>
              </a:r>
              <a:endParaRPr lang="en-US" sz="1600" b="0">
                <a:latin typeface="Arial" charset="0"/>
              </a:endParaRPr>
            </a:p>
          </p:txBody>
        </p:sp>
      </p:grpSp>
      <p:grpSp>
        <p:nvGrpSpPr>
          <p:cNvPr id="44056" name="Group 24"/>
          <p:cNvGrpSpPr>
            <a:grpSpLocks/>
          </p:cNvGrpSpPr>
          <p:nvPr/>
        </p:nvGrpSpPr>
        <p:grpSpPr bwMode="auto">
          <a:xfrm>
            <a:off x="-36513" y="3884613"/>
            <a:ext cx="4356101" cy="1905000"/>
            <a:chOff x="48" y="2832"/>
            <a:chExt cx="2744" cy="1200"/>
          </a:xfrm>
        </p:grpSpPr>
        <p:sp>
          <p:nvSpPr>
            <p:cNvPr id="44057" name="Text Box 25"/>
            <p:cNvSpPr txBox="1">
              <a:spLocks noChangeArrowheads="1"/>
            </p:cNvSpPr>
            <p:nvPr/>
          </p:nvSpPr>
          <p:spPr bwMode="auto">
            <a:xfrm>
              <a:off x="48" y="3512"/>
              <a:ext cx="2744" cy="5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pt-PT" sz="1600" b="0">
                  <a:latin typeface="Arial" charset="0"/>
                </a:rPr>
                <a:t>Agora é possível colocar o símbolo escolhido no esquema clicando para tal com o botão esquerdo do rato na zona pretendida</a:t>
              </a:r>
              <a:endParaRPr lang="en-US" sz="1600" b="0">
                <a:latin typeface="Arial" charset="0"/>
              </a:endParaRPr>
            </a:p>
          </p:txBody>
        </p:sp>
        <p:grpSp>
          <p:nvGrpSpPr>
            <p:cNvPr id="44058" name="Group 26"/>
            <p:cNvGrpSpPr>
              <a:grpSpLocks/>
            </p:cNvGrpSpPr>
            <p:nvPr/>
          </p:nvGrpSpPr>
          <p:grpSpPr bwMode="auto">
            <a:xfrm>
              <a:off x="1296" y="2832"/>
              <a:ext cx="1392" cy="672"/>
              <a:chOff x="1296" y="2832"/>
              <a:chExt cx="1392" cy="672"/>
            </a:xfrm>
          </p:grpSpPr>
          <p:sp>
            <p:nvSpPr>
              <p:cNvPr id="44059" name="Oval 27"/>
              <p:cNvSpPr>
                <a:spLocks noChangeArrowheads="1"/>
              </p:cNvSpPr>
              <p:nvPr/>
            </p:nvSpPr>
            <p:spPr bwMode="auto">
              <a:xfrm>
                <a:off x="1296" y="3216"/>
                <a:ext cx="288" cy="288"/>
              </a:xfrm>
              <a:prstGeom prst="ellipse">
                <a:avLst/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pt-PT" sz="2000" b="0">
                    <a:latin typeface="Arial" charset="0"/>
                  </a:rPr>
                  <a:t>7</a:t>
                </a:r>
                <a:endParaRPr lang="en-US" sz="2000" b="0">
                  <a:latin typeface="Arial" charset="0"/>
                </a:endParaRPr>
              </a:p>
            </p:txBody>
          </p:sp>
          <p:sp>
            <p:nvSpPr>
              <p:cNvPr id="44060" name="Line 28"/>
              <p:cNvSpPr>
                <a:spLocks noChangeShapeType="1"/>
              </p:cNvSpPr>
              <p:nvPr/>
            </p:nvSpPr>
            <p:spPr bwMode="auto">
              <a:xfrm flipV="1">
                <a:off x="1584" y="2832"/>
                <a:ext cx="1104" cy="5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</p:grpSp>
      <p:grpSp>
        <p:nvGrpSpPr>
          <p:cNvPr id="44061" name="Group 29"/>
          <p:cNvGrpSpPr>
            <a:grpSpLocks/>
          </p:cNvGrpSpPr>
          <p:nvPr/>
        </p:nvGrpSpPr>
        <p:grpSpPr bwMode="auto">
          <a:xfrm>
            <a:off x="4078288" y="5180013"/>
            <a:ext cx="4800600" cy="1038225"/>
            <a:chOff x="2640" y="3648"/>
            <a:chExt cx="3024" cy="654"/>
          </a:xfrm>
        </p:grpSpPr>
        <p:sp>
          <p:nvSpPr>
            <p:cNvPr id="44062" name="Text Box 30"/>
            <p:cNvSpPr txBox="1">
              <a:spLocks noChangeArrowheads="1"/>
            </p:cNvSpPr>
            <p:nvPr/>
          </p:nvSpPr>
          <p:spPr bwMode="auto">
            <a:xfrm>
              <a:off x="2640" y="3936"/>
              <a:ext cx="3024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pt-PT" sz="1600" b="0">
                  <a:latin typeface="Arial" charset="0"/>
                </a:rPr>
                <a:t>Pode-se mudar a orientação do símbolo (enquanto não colocado) com a ajuda das teclas </a:t>
              </a:r>
              <a:r>
                <a:rPr lang="en-US" sz="1600" b="0">
                  <a:cs typeface="Times New Roman" pitchFamily="18" charset="0"/>
                  <a:sym typeface="Symbol" pitchFamily="18" charset="2"/>
                </a:rPr>
                <a:t></a:t>
              </a:r>
              <a:r>
                <a:rPr lang="pt-PT" sz="1600" b="0">
                  <a:cs typeface="Times New Roman" pitchFamily="18" charset="0"/>
                  <a:sym typeface="Symbol" pitchFamily="18" charset="2"/>
                </a:rPr>
                <a:t> </a:t>
              </a:r>
              <a:r>
                <a:rPr lang="en-US" sz="1600" b="0">
                  <a:cs typeface="Times New Roman" pitchFamily="18" charset="0"/>
                  <a:sym typeface="Symbol" pitchFamily="18" charset="2"/>
                </a:rPr>
                <a:t></a:t>
              </a:r>
              <a:r>
                <a:rPr lang="pt-PT" sz="1600" b="0">
                  <a:cs typeface="Times New Roman" pitchFamily="18" charset="0"/>
                  <a:sym typeface="Symbol" pitchFamily="18" charset="2"/>
                </a:rPr>
                <a:t> </a:t>
              </a:r>
              <a:r>
                <a:rPr lang="en-US" sz="1600" b="0">
                  <a:cs typeface="Times New Roman" pitchFamily="18" charset="0"/>
                  <a:sym typeface="Symbol" pitchFamily="18" charset="2"/>
                </a:rPr>
                <a:t></a:t>
              </a:r>
              <a:r>
                <a:rPr lang="pt-PT" sz="1600" b="0">
                  <a:cs typeface="Times New Roman" pitchFamily="18" charset="0"/>
                  <a:sym typeface="Symbol" pitchFamily="18" charset="2"/>
                </a:rPr>
                <a:t> </a:t>
              </a:r>
              <a:r>
                <a:rPr lang="en-US" sz="1600" b="0">
                  <a:cs typeface="Times New Roman" pitchFamily="18" charset="0"/>
                  <a:sym typeface="Symbol" pitchFamily="18" charset="2"/>
                </a:rPr>
                <a:t></a:t>
              </a:r>
              <a:r>
                <a:rPr lang="en-US" sz="1600" b="0">
                  <a:latin typeface="Arial" charset="0"/>
                </a:rPr>
                <a:t> </a:t>
              </a:r>
            </a:p>
          </p:txBody>
        </p:sp>
        <p:grpSp>
          <p:nvGrpSpPr>
            <p:cNvPr id="44063" name="Group 31"/>
            <p:cNvGrpSpPr>
              <a:grpSpLocks/>
            </p:cNvGrpSpPr>
            <p:nvPr/>
          </p:nvGrpSpPr>
          <p:grpSpPr bwMode="auto">
            <a:xfrm>
              <a:off x="3264" y="3648"/>
              <a:ext cx="1536" cy="288"/>
              <a:chOff x="3264" y="3648"/>
              <a:chExt cx="1536" cy="288"/>
            </a:xfrm>
          </p:grpSpPr>
          <p:sp>
            <p:nvSpPr>
              <p:cNvPr id="44064" name="Oval 32"/>
              <p:cNvSpPr>
                <a:spLocks noChangeArrowheads="1"/>
              </p:cNvSpPr>
              <p:nvPr/>
            </p:nvSpPr>
            <p:spPr bwMode="auto">
              <a:xfrm>
                <a:off x="4512" y="3648"/>
                <a:ext cx="288" cy="288"/>
              </a:xfrm>
              <a:prstGeom prst="ellipse">
                <a:avLst/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pt-PT" sz="2000" b="0">
                    <a:latin typeface="Arial" charset="0"/>
                  </a:rPr>
                  <a:t>8</a:t>
                </a:r>
                <a:endParaRPr lang="en-US" sz="2000" b="0">
                  <a:latin typeface="Arial" charset="0"/>
                </a:endParaRPr>
              </a:p>
            </p:txBody>
          </p:sp>
          <p:sp>
            <p:nvSpPr>
              <p:cNvPr id="44065" name="Line 33"/>
              <p:cNvSpPr>
                <a:spLocks noChangeShapeType="1"/>
              </p:cNvSpPr>
              <p:nvPr/>
            </p:nvSpPr>
            <p:spPr bwMode="auto">
              <a:xfrm flipH="1" flipV="1">
                <a:off x="3936" y="3648"/>
                <a:ext cx="576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4066" name="Line 34"/>
              <p:cNvSpPr>
                <a:spLocks noChangeShapeType="1"/>
              </p:cNvSpPr>
              <p:nvPr/>
            </p:nvSpPr>
            <p:spPr bwMode="auto">
              <a:xfrm flipH="1" flipV="1">
                <a:off x="3264" y="3744"/>
                <a:ext cx="1248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4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1" dur="500"/>
                                        <p:tgtEl>
                                          <p:spTgt spid="44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4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0" dur="500"/>
                                        <p:tgtEl>
                                          <p:spTgt spid="44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5" dur="500"/>
                                        <p:tgtEl>
                                          <p:spTgt spid="44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0" dur="500"/>
                                        <p:tgtEl>
                                          <p:spTgt spid="44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44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500"/>
                                        <p:tgtEl>
                                          <p:spTgt spid="44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706" name="Object 34"/>
          <p:cNvGraphicFramePr>
            <a:graphicFrameLocks noChangeAspect="1"/>
          </p:cNvGraphicFramePr>
          <p:nvPr/>
        </p:nvGraphicFramePr>
        <p:xfrm>
          <a:off x="323850" y="1196975"/>
          <a:ext cx="2381250" cy="153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37" name="Bitmap Image" r:id="rId3" imgW="2381582" imgH="1533739" progId="Paint.Picture">
                  <p:embed/>
                </p:oleObj>
              </mc:Choice>
              <mc:Fallback>
                <p:oleObj name="Bitmap Image" r:id="rId3" imgW="2381582" imgH="1533739" progId="Paint.Picture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1196975"/>
                        <a:ext cx="2381250" cy="1533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2" name="Object 10"/>
          <p:cNvGraphicFramePr>
            <a:graphicFrameLocks noChangeAspect="1"/>
          </p:cNvGraphicFramePr>
          <p:nvPr/>
        </p:nvGraphicFramePr>
        <p:xfrm>
          <a:off x="5410200" y="1314450"/>
          <a:ext cx="3514725" cy="142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38" name="Bitmap Image" r:id="rId5" imgW="3514286" imgH="1428949" progId="Paint.Picture">
                  <p:embed/>
                </p:oleObj>
              </mc:Choice>
              <mc:Fallback>
                <p:oleObj name="Bitmap Image" r:id="rId5" imgW="3514286" imgH="1428949" progId="Paint.Picture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1314450"/>
                        <a:ext cx="3514725" cy="142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3" name="Object 11"/>
          <p:cNvGraphicFramePr>
            <a:graphicFrameLocks noChangeAspect="1"/>
          </p:cNvGraphicFramePr>
          <p:nvPr/>
        </p:nvGraphicFramePr>
        <p:xfrm>
          <a:off x="152400" y="4981575"/>
          <a:ext cx="4343400" cy="1266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39" name="Bitmap Image" r:id="rId7" imgW="4342857" imgH="1267002" progId="Paint.Picture">
                  <p:embed/>
                </p:oleObj>
              </mc:Choice>
              <mc:Fallback>
                <p:oleObj name="Bitmap Image" r:id="rId7" imgW="4342857" imgH="1267002" progId="Paint.Picture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4981575"/>
                        <a:ext cx="4343400" cy="1266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705" name="Group 33"/>
          <p:cNvGrpSpPr>
            <a:grpSpLocks/>
          </p:cNvGrpSpPr>
          <p:nvPr/>
        </p:nvGrpSpPr>
        <p:grpSpPr bwMode="auto">
          <a:xfrm>
            <a:off x="2209800" y="1600200"/>
            <a:ext cx="2819400" cy="1069975"/>
            <a:chOff x="1392" y="1008"/>
            <a:chExt cx="1776" cy="674"/>
          </a:xfrm>
        </p:grpSpPr>
        <p:sp>
          <p:nvSpPr>
            <p:cNvPr id="28676" name="Text Box 4"/>
            <p:cNvSpPr txBox="1">
              <a:spLocks noChangeArrowheads="1"/>
            </p:cNvSpPr>
            <p:nvPr/>
          </p:nvSpPr>
          <p:spPr bwMode="auto">
            <a:xfrm>
              <a:off x="2208" y="1008"/>
              <a:ext cx="960" cy="6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pt-PT" sz="1600" b="0">
                  <a:latin typeface="Arial" charset="0"/>
                </a:rPr>
                <a:t>Coloque mais uma instância</a:t>
              </a:r>
            </a:p>
            <a:p>
              <a:r>
                <a:rPr lang="pt-PT" sz="1600" b="0">
                  <a:latin typeface="Arial" charset="0"/>
                </a:rPr>
                <a:t>do símbolo </a:t>
              </a:r>
              <a:r>
                <a:rPr lang="pt-PT" sz="1600" b="0" i="1">
                  <a:latin typeface="Arial" charset="0"/>
                </a:rPr>
                <a:t>NOT</a:t>
              </a:r>
              <a:r>
                <a:rPr lang="pt-PT" sz="1600" b="0">
                  <a:latin typeface="Arial" charset="0"/>
                </a:rPr>
                <a:t> </a:t>
              </a:r>
              <a:endParaRPr lang="en-US" sz="1600" b="0">
                <a:latin typeface="Arial" charset="0"/>
              </a:endParaRPr>
            </a:p>
          </p:txBody>
        </p:sp>
        <p:sp>
          <p:nvSpPr>
            <p:cNvPr id="28678" name="Oval 6"/>
            <p:cNvSpPr>
              <a:spLocks noChangeArrowheads="1"/>
            </p:cNvSpPr>
            <p:nvPr/>
          </p:nvSpPr>
          <p:spPr bwMode="auto">
            <a:xfrm>
              <a:off x="1824" y="1056"/>
              <a:ext cx="288" cy="288"/>
            </a:xfrm>
            <a:prstGeom prst="ellipse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pt-PT" sz="2000" b="0">
                  <a:latin typeface="Arial" charset="0"/>
                </a:rPr>
                <a:t>9</a:t>
              </a:r>
              <a:endParaRPr lang="en-US" sz="2000" b="0">
                <a:latin typeface="Arial" charset="0"/>
              </a:endParaRPr>
            </a:p>
          </p:txBody>
        </p:sp>
        <p:sp>
          <p:nvSpPr>
            <p:cNvPr id="28686" name="Line 14"/>
            <p:cNvSpPr>
              <a:spLocks noChangeShapeType="1"/>
            </p:cNvSpPr>
            <p:nvPr/>
          </p:nvSpPr>
          <p:spPr bwMode="auto">
            <a:xfrm flipH="1">
              <a:off x="1392" y="1296"/>
              <a:ext cx="48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28702" name="Group 30"/>
          <p:cNvGrpSpPr>
            <a:grpSpLocks/>
          </p:cNvGrpSpPr>
          <p:nvPr/>
        </p:nvGrpSpPr>
        <p:grpSpPr bwMode="auto">
          <a:xfrm>
            <a:off x="5638800" y="409575"/>
            <a:ext cx="3200400" cy="1647825"/>
            <a:chOff x="3552" y="258"/>
            <a:chExt cx="2016" cy="1038"/>
          </a:xfrm>
        </p:grpSpPr>
        <p:sp>
          <p:nvSpPr>
            <p:cNvPr id="28687" name="Oval 15"/>
            <p:cNvSpPr>
              <a:spLocks noChangeArrowheads="1"/>
            </p:cNvSpPr>
            <p:nvPr/>
          </p:nvSpPr>
          <p:spPr bwMode="auto">
            <a:xfrm>
              <a:off x="3552" y="336"/>
              <a:ext cx="288" cy="288"/>
            </a:xfrm>
            <a:prstGeom prst="ellipse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pt-PT" sz="2000" b="0">
                  <a:latin typeface="Arial" charset="0"/>
                </a:rPr>
                <a:t>11</a:t>
              </a:r>
              <a:endParaRPr lang="en-US" sz="2000" b="0">
                <a:latin typeface="Arial" charset="0"/>
              </a:endParaRPr>
            </a:p>
          </p:txBody>
        </p:sp>
        <p:sp>
          <p:nvSpPr>
            <p:cNvPr id="28688" name="Line 16"/>
            <p:cNvSpPr>
              <a:spLocks noChangeShapeType="1"/>
            </p:cNvSpPr>
            <p:nvPr/>
          </p:nvSpPr>
          <p:spPr bwMode="auto">
            <a:xfrm>
              <a:off x="3792" y="576"/>
              <a:ext cx="1248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8689" name="Line 17"/>
            <p:cNvSpPr>
              <a:spLocks noChangeShapeType="1"/>
            </p:cNvSpPr>
            <p:nvPr/>
          </p:nvSpPr>
          <p:spPr bwMode="auto">
            <a:xfrm>
              <a:off x="3792" y="576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8690" name="Text Box 18"/>
            <p:cNvSpPr txBox="1">
              <a:spLocks noChangeArrowheads="1"/>
            </p:cNvSpPr>
            <p:nvPr/>
          </p:nvSpPr>
          <p:spPr bwMode="auto">
            <a:xfrm>
              <a:off x="4080" y="258"/>
              <a:ext cx="1488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pt-PT" sz="1600" b="0" dirty="0" smtClean="0">
                  <a:latin typeface="Arial" charset="0"/>
                </a:rPr>
                <a:t>Selecione </a:t>
              </a:r>
              <a:r>
                <a:rPr lang="pt-PT" sz="1600" b="0" dirty="0">
                  <a:latin typeface="Arial" charset="0"/>
                </a:rPr>
                <a:t>e coloque a porta lógica </a:t>
              </a:r>
              <a:r>
                <a:rPr lang="pt-PT" sz="1600" b="0" i="1" dirty="0">
                  <a:latin typeface="Arial" charset="0"/>
                </a:rPr>
                <a:t>NAND</a:t>
              </a:r>
              <a:r>
                <a:rPr lang="pt-PT" sz="1600" b="0" dirty="0">
                  <a:latin typeface="Arial" charset="0"/>
                </a:rPr>
                <a:t> </a:t>
              </a:r>
              <a:endParaRPr lang="en-US" sz="1600" b="0" dirty="0">
                <a:latin typeface="Arial" charset="0"/>
              </a:endParaRPr>
            </a:p>
          </p:txBody>
        </p:sp>
      </p:grpSp>
      <p:grpSp>
        <p:nvGrpSpPr>
          <p:cNvPr id="28701" name="Group 29"/>
          <p:cNvGrpSpPr>
            <a:grpSpLocks/>
          </p:cNvGrpSpPr>
          <p:nvPr/>
        </p:nvGrpSpPr>
        <p:grpSpPr bwMode="auto">
          <a:xfrm>
            <a:off x="609600" y="3429000"/>
            <a:ext cx="3810000" cy="2209800"/>
            <a:chOff x="384" y="2160"/>
            <a:chExt cx="2400" cy="1392"/>
          </a:xfrm>
        </p:grpSpPr>
        <p:sp>
          <p:nvSpPr>
            <p:cNvPr id="28692" name="Text Box 20"/>
            <p:cNvSpPr txBox="1">
              <a:spLocks noChangeArrowheads="1"/>
            </p:cNvSpPr>
            <p:nvPr/>
          </p:nvSpPr>
          <p:spPr bwMode="auto">
            <a:xfrm>
              <a:off x="1296" y="2160"/>
              <a:ext cx="1488" cy="6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pt-PT" sz="1600" b="0" dirty="0">
                  <a:latin typeface="Arial" charset="0"/>
                </a:rPr>
                <a:t>Mude para a biblioteca </a:t>
              </a:r>
              <a:r>
                <a:rPr lang="pt-PT" sz="1600" b="0" i="1" dirty="0">
                  <a:latin typeface="Arial" charset="0"/>
                </a:rPr>
                <a:t>SimulationIO</a:t>
              </a:r>
              <a:r>
                <a:rPr lang="pt-PT" sz="1600" b="0" dirty="0">
                  <a:latin typeface="Arial" charset="0"/>
                </a:rPr>
                <a:t> e </a:t>
              </a:r>
              <a:r>
                <a:rPr lang="pt-PT" sz="1600" b="0" dirty="0" smtClean="0">
                  <a:latin typeface="Arial" charset="0"/>
                </a:rPr>
                <a:t>selecione </a:t>
              </a:r>
              <a:r>
                <a:rPr lang="pt-PT" sz="1600" b="0" dirty="0">
                  <a:latin typeface="Arial" charset="0"/>
                </a:rPr>
                <a:t>nela o elemento </a:t>
              </a:r>
              <a:r>
                <a:rPr lang="pt-PT" sz="1600" b="0" i="1" dirty="0">
                  <a:latin typeface="Arial" charset="0"/>
                </a:rPr>
                <a:t>Binary Switch</a:t>
              </a:r>
              <a:endParaRPr lang="en-US" sz="1600" b="0" dirty="0">
                <a:latin typeface="Arial" charset="0"/>
              </a:endParaRPr>
            </a:p>
          </p:txBody>
        </p:sp>
        <p:sp>
          <p:nvSpPr>
            <p:cNvPr id="28693" name="Line 21"/>
            <p:cNvSpPr>
              <a:spLocks noChangeShapeType="1"/>
            </p:cNvSpPr>
            <p:nvPr/>
          </p:nvSpPr>
          <p:spPr bwMode="auto">
            <a:xfrm>
              <a:off x="720" y="2640"/>
              <a:ext cx="1344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8694" name="Line 22"/>
            <p:cNvSpPr>
              <a:spLocks noChangeShapeType="1"/>
            </p:cNvSpPr>
            <p:nvPr/>
          </p:nvSpPr>
          <p:spPr bwMode="auto">
            <a:xfrm>
              <a:off x="720" y="2640"/>
              <a:ext cx="1392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8695" name="Line 23"/>
            <p:cNvSpPr>
              <a:spLocks noChangeShapeType="1"/>
            </p:cNvSpPr>
            <p:nvPr/>
          </p:nvSpPr>
          <p:spPr bwMode="auto">
            <a:xfrm flipH="1">
              <a:off x="384" y="2640"/>
              <a:ext cx="336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8691" name="Oval 19"/>
            <p:cNvSpPr>
              <a:spLocks noChangeArrowheads="1"/>
            </p:cNvSpPr>
            <p:nvPr/>
          </p:nvSpPr>
          <p:spPr bwMode="auto">
            <a:xfrm>
              <a:off x="544" y="2368"/>
              <a:ext cx="288" cy="288"/>
            </a:xfrm>
            <a:prstGeom prst="ellipse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pt-PT" sz="2000" b="0">
                  <a:latin typeface="Arial" charset="0"/>
                </a:rPr>
                <a:t>12</a:t>
              </a:r>
              <a:endParaRPr lang="en-US" sz="2000" b="0">
                <a:latin typeface="Arial" charset="0"/>
              </a:endParaRPr>
            </a:p>
          </p:txBody>
        </p:sp>
      </p:grpSp>
      <p:graphicFrame>
        <p:nvGraphicFramePr>
          <p:cNvPr id="28698" name="Object 26"/>
          <p:cNvGraphicFramePr>
            <a:graphicFrameLocks noChangeAspect="1"/>
          </p:cNvGraphicFramePr>
          <p:nvPr/>
        </p:nvGraphicFramePr>
        <p:xfrm>
          <a:off x="5410200" y="4962525"/>
          <a:ext cx="2714625" cy="1438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40" name="Bitmap Image" r:id="rId9" imgW="2715004" imgH="1438095" progId="Paint.Picture">
                  <p:embed/>
                </p:oleObj>
              </mc:Choice>
              <mc:Fallback>
                <p:oleObj name="Bitmap Image" r:id="rId9" imgW="2715004" imgH="1438095" progId="Paint.Picture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4962525"/>
                        <a:ext cx="2714625" cy="1438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704" name="Group 32"/>
          <p:cNvGrpSpPr>
            <a:grpSpLocks/>
          </p:cNvGrpSpPr>
          <p:nvPr/>
        </p:nvGrpSpPr>
        <p:grpSpPr bwMode="auto">
          <a:xfrm>
            <a:off x="5105400" y="3200400"/>
            <a:ext cx="3886200" cy="1676400"/>
            <a:chOff x="3216" y="2016"/>
            <a:chExt cx="2448" cy="1056"/>
          </a:xfrm>
        </p:grpSpPr>
        <p:sp>
          <p:nvSpPr>
            <p:cNvPr id="28696" name="Oval 24"/>
            <p:cNvSpPr>
              <a:spLocks noChangeArrowheads="1"/>
            </p:cNvSpPr>
            <p:nvPr/>
          </p:nvSpPr>
          <p:spPr bwMode="auto">
            <a:xfrm>
              <a:off x="3216" y="2256"/>
              <a:ext cx="288" cy="288"/>
            </a:xfrm>
            <a:prstGeom prst="ellipse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pt-PT" sz="2000" b="0">
                  <a:latin typeface="Arial" charset="0"/>
                </a:rPr>
                <a:t>13</a:t>
              </a:r>
              <a:endParaRPr lang="en-US" sz="2000" b="0">
                <a:latin typeface="Arial" charset="0"/>
              </a:endParaRPr>
            </a:p>
          </p:txBody>
        </p:sp>
        <p:sp>
          <p:nvSpPr>
            <p:cNvPr id="28697" name="Text Box 25"/>
            <p:cNvSpPr txBox="1">
              <a:spLocks noChangeArrowheads="1"/>
            </p:cNvSpPr>
            <p:nvPr/>
          </p:nvSpPr>
          <p:spPr bwMode="auto">
            <a:xfrm>
              <a:off x="3600" y="2016"/>
              <a:ext cx="2064" cy="9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pt-PT" sz="1600" b="0" dirty="0">
                  <a:latin typeface="Arial" charset="0"/>
                </a:rPr>
                <a:t>Para mudar a posição de um símbolo basta apontá-lo com o rato e arrastar para a posição desejada. Para </a:t>
              </a:r>
              <a:r>
                <a:rPr lang="pt-PT" sz="1600" b="0" dirty="0" smtClean="0">
                  <a:latin typeface="Arial" charset="0"/>
                </a:rPr>
                <a:t>selecionar </a:t>
              </a:r>
              <a:r>
                <a:rPr lang="pt-PT" sz="1600" b="0" dirty="0">
                  <a:latin typeface="Arial" charset="0"/>
                </a:rPr>
                <a:t>o </a:t>
              </a:r>
              <a:r>
                <a:rPr lang="pt-PT" sz="1600" b="0" i="1" dirty="0">
                  <a:latin typeface="Arial" charset="0"/>
                </a:rPr>
                <a:t>Binary Switch </a:t>
              </a:r>
              <a:r>
                <a:rPr lang="pt-PT" sz="1600" b="0" dirty="0">
                  <a:latin typeface="Arial" charset="0"/>
                </a:rPr>
                <a:t>tem que pressionar simultaneamente a tecla </a:t>
              </a:r>
              <a:r>
                <a:rPr lang="pt-PT" sz="1600" b="0" i="1" dirty="0">
                  <a:latin typeface="Arial" charset="0"/>
                </a:rPr>
                <a:t>SHIFT</a:t>
              </a:r>
              <a:r>
                <a:rPr lang="pt-PT" sz="1600" b="0" dirty="0">
                  <a:latin typeface="Arial" charset="0"/>
                </a:rPr>
                <a:t>.</a:t>
              </a:r>
              <a:endParaRPr lang="en-US" sz="1600" b="0" dirty="0">
                <a:latin typeface="Arial" charset="0"/>
              </a:endParaRPr>
            </a:p>
          </p:txBody>
        </p:sp>
        <p:sp>
          <p:nvSpPr>
            <p:cNvPr id="28699" name="Line 27"/>
            <p:cNvSpPr>
              <a:spLocks noChangeShapeType="1"/>
            </p:cNvSpPr>
            <p:nvPr/>
          </p:nvSpPr>
          <p:spPr bwMode="auto">
            <a:xfrm>
              <a:off x="3408" y="2544"/>
              <a:ext cx="24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28708" name="Group 36"/>
          <p:cNvGrpSpPr>
            <a:grpSpLocks/>
          </p:cNvGrpSpPr>
          <p:nvPr/>
        </p:nvGrpSpPr>
        <p:grpSpPr bwMode="auto">
          <a:xfrm>
            <a:off x="1692275" y="381000"/>
            <a:ext cx="3184525" cy="887413"/>
            <a:chOff x="1066" y="240"/>
            <a:chExt cx="2006" cy="559"/>
          </a:xfrm>
        </p:grpSpPr>
        <p:sp>
          <p:nvSpPr>
            <p:cNvPr id="28680" name="Text Box 8"/>
            <p:cNvSpPr txBox="1">
              <a:spLocks noChangeArrowheads="1"/>
            </p:cNvSpPr>
            <p:nvPr/>
          </p:nvSpPr>
          <p:spPr bwMode="auto">
            <a:xfrm>
              <a:off x="1584" y="258"/>
              <a:ext cx="1488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pt-PT" sz="1600" b="0">
                  <a:latin typeface="Arial" charset="0"/>
                </a:rPr>
                <a:t>Para sair do modo de colocação de símbolos </a:t>
              </a:r>
              <a:endParaRPr lang="en-US" sz="1600" b="0">
                <a:latin typeface="Arial" charset="0"/>
              </a:endParaRPr>
            </a:p>
          </p:txBody>
        </p:sp>
        <p:sp>
          <p:nvSpPr>
            <p:cNvPr id="28681" name="Oval 9"/>
            <p:cNvSpPr>
              <a:spLocks noChangeArrowheads="1"/>
            </p:cNvSpPr>
            <p:nvPr/>
          </p:nvSpPr>
          <p:spPr bwMode="auto">
            <a:xfrm>
              <a:off x="1200" y="240"/>
              <a:ext cx="288" cy="288"/>
            </a:xfrm>
            <a:prstGeom prst="ellipse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pt-PT" sz="2000" b="0">
                  <a:latin typeface="Arial" charset="0"/>
                </a:rPr>
                <a:t>10</a:t>
              </a:r>
              <a:endParaRPr lang="en-US" sz="2000" b="0">
                <a:latin typeface="Arial" charset="0"/>
              </a:endParaRPr>
            </a:p>
          </p:txBody>
        </p:sp>
        <p:sp>
          <p:nvSpPr>
            <p:cNvPr id="28707" name="Line 35"/>
            <p:cNvSpPr>
              <a:spLocks noChangeShapeType="1"/>
            </p:cNvSpPr>
            <p:nvPr/>
          </p:nvSpPr>
          <p:spPr bwMode="auto">
            <a:xfrm flipH="1">
              <a:off x="1066" y="527"/>
              <a:ext cx="272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1" dur="500"/>
                                        <p:tgtEl>
                                          <p:spTgt spid="28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6" dur="500"/>
                                        <p:tgtEl>
                                          <p:spTgt spid="28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8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5" dur="500"/>
                                        <p:tgtEl>
                                          <p:spTgt spid="28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8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4" dur="500"/>
                                        <p:tgtEl>
                                          <p:spTgt spid="28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8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3" dur="500"/>
                                        <p:tgtEl>
                                          <p:spTgt spid="28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730" name="Object 34"/>
          <p:cNvGraphicFramePr>
            <a:graphicFrameLocks noChangeAspect="1"/>
          </p:cNvGraphicFramePr>
          <p:nvPr/>
        </p:nvGraphicFramePr>
        <p:xfrm>
          <a:off x="5005388" y="4110038"/>
          <a:ext cx="3143250" cy="234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60" name="Bitmap Image" r:id="rId3" imgW="3142857" imgH="2343477" progId="Paint.Picture">
                  <p:embed/>
                </p:oleObj>
              </mc:Choice>
              <mc:Fallback>
                <p:oleObj name="Bitmap Image" r:id="rId3" imgW="3142857" imgH="2343477" progId="Paint.Picture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5388" y="4110038"/>
                        <a:ext cx="3143250" cy="234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698" name="Object 2"/>
          <p:cNvGraphicFramePr>
            <a:graphicFrameLocks noChangeAspect="1"/>
          </p:cNvGraphicFramePr>
          <p:nvPr/>
        </p:nvGraphicFramePr>
        <p:xfrm>
          <a:off x="847725" y="1219200"/>
          <a:ext cx="2657475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61" name="Bitmap Image" r:id="rId5" imgW="2657846" imgH="1371429" progId="Paint.Picture">
                  <p:embed/>
                </p:oleObj>
              </mc:Choice>
              <mc:Fallback>
                <p:oleObj name="Bitmap Image" r:id="rId5" imgW="2657846" imgH="1371429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7725" y="1219200"/>
                        <a:ext cx="2657475" cy="137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699" name="Object 3"/>
          <p:cNvGraphicFramePr>
            <a:graphicFrameLocks noChangeAspect="1"/>
          </p:cNvGraphicFramePr>
          <p:nvPr/>
        </p:nvGraphicFramePr>
        <p:xfrm>
          <a:off x="5029200" y="1219200"/>
          <a:ext cx="3009900" cy="1400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62" name="Bitmap Image" r:id="rId7" imgW="3010320" imgH="1400000" progId="Paint.Picture">
                  <p:embed/>
                </p:oleObj>
              </mc:Choice>
              <mc:Fallback>
                <p:oleObj name="Bitmap Image" r:id="rId7" imgW="3010320" imgH="1400000" progId="Paint.Pictur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1219200"/>
                        <a:ext cx="3009900" cy="1400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729" name="Group 33"/>
          <p:cNvGrpSpPr>
            <a:grpSpLocks/>
          </p:cNvGrpSpPr>
          <p:nvPr/>
        </p:nvGrpSpPr>
        <p:grpSpPr bwMode="auto">
          <a:xfrm>
            <a:off x="228600" y="255588"/>
            <a:ext cx="3733800" cy="1039812"/>
            <a:chOff x="144" y="161"/>
            <a:chExt cx="2352" cy="655"/>
          </a:xfrm>
        </p:grpSpPr>
        <p:sp>
          <p:nvSpPr>
            <p:cNvPr id="29702" name="Text Box 6"/>
            <p:cNvSpPr txBox="1">
              <a:spLocks noChangeArrowheads="1"/>
            </p:cNvSpPr>
            <p:nvPr/>
          </p:nvSpPr>
          <p:spPr bwMode="auto">
            <a:xfrm>
              <a:off x="144" y="161"/>
              <a:ext cx="1968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pt-PT" sz="1600" b="0">
                  <a:latin typeface="Arial" charset="0"/>
                </a:rPr>
                <a:t>Para interligar as portas lógicas clique num pino</a:t>
              </a:r>
              <a:endParaRPr lang="en-US" sz="1600" b="0">
                <a:latin typeface="Arial" charset="0"/>
              </a:endParaRPr>
            </a:p>
          </p:txBody>
        </p:sp>
        <p:sp>
          <p:nvSpPr>
            <p:cNvPr id="29703" name="Oval 7"/>
            <p:cNvSpPr>
              <a:spLocks noChangeArrowheads="1"/>
            </p:cNvSpPr>
            <p:nvPr/>
          </p:nvSpPr>
          <p:spPr bwMode="auto">
            <a:xfrm>
              <a:off x="2208" y="192"/>
              <a:ext cx="288" cy="288"/>
            </a:xfrm>
            <a:prstGeom prst="ellipse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pt-PT" sz="2000" b="0">
                  <a:latin typeface="Arial" charset="0"/>
                </a:rPr>
                <a:t>14</a:t>
              </a:r>
              <a:endParaRPr lang="en-US" sz="2000" b="0">
                <a:latin typeface="Arial" charset="0"/>
              </a:endParaRPr>
            </a:p>
          </p:txBody>
        </p:sp>
        <p:sp>
          <p:nvSpPr>
            <p:cNvPr id="29705" name="Line 9"/>
            <p:cNvSpPr>
              <a:spLocks noChangeShapeType="1"/>
            </p:cNvSpPr>
            <p:nvPr/>
          </p:nvSpPr>
          <p:spPr bwMode="auto">
            <a:xfrm flipH="1">
              <a:off x="1680" y="432"/>
              <a:ext cx="576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aphicFrame>
        <p:nvGraphicFramePr>
          <p:cNvPr id="29710" name="Object 14"/>
          <p:cNvGraphicFramePr>
            <a:graphicFrameLocks noChangeAspect="1"/>
          </p:cNvGraphicFramePr>
          <p:nvPr/>
        </p:nvGraphicFramePr>
        <p:xfrm>
          <a:off x="685800" y="4114800"/>
          <a:ext cx="3009900" cy="140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63" name="Bitmap Image" r:id="rId9" imgW="3010320" imgH="1409897" progId="Paint.Picture">
                  <p:embed/>
                </p:oleObj>
              </mc:Choice>
              <mc:Fallback>
                <p:oleObj name="Bitmap Image" r:id="rId9" imgW="3010320" imgH="1409897" progId="Paint.Picture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4114800"/>
                        <a:ext cx="3009900" cy="1409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724" name="Group 28"/>
          <p:cNvGrpSpPr>
            <a:grpSpLocks/>
          </p:cNvGrpSpPr>
          <p:nvPr/>
        </p:nvGrpSpPr>
        <p:grpSpPr bwMode="auto">
          <a:xfrm>
            <a:off x="381000" y="5867400"/>
            <a:ext cx="3810000" cy="825500"/>
            <a:chOff x="240" y="3696"/>
            <a:chExt cx="2400" cy="520"/>
          </a:xfrm>
        </p:grpSpPr>
        <p:sp>
          <p:nvSpPr>
            <p:cNvPr id="29711" name="Text Box 15"/>
            <p:cNvSpPr txBox="1">
              <a:spLocks noChangeArrowheads="1"/>
            </p:cNvSpPr>
            <p:nvPr/>
          </p:nvSpPr>
          <p:spPr bwMode="auto">
            <a:xfrm>
              <a:off x="528" y="3696"/>
              <a:ext cx="2112" cy="5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pt-PT" sz="1600" b="0" dirty="0">
                  <a:latin typeface="Arial" charset="0"/>
                </a:rPr>
                <a:t>Para apagar um símbolo ou uma linha completa, </a:t>
              </a:r>
              <a:r>
                <a:rPr lang="pt-PT" sz="1600" b="0" dirty="0" smtClean="0">
                  <a:latin typeface="Arial" charset="0"/>
                </a:rPr>
                <a:t>selecione-o(a</a:t>
              </a:r>
              <a:r>
                <a:rPr lang="pt-PT" sz="1600" b="0" dirty="0">
                  <a:latin typeface="Arial" charset="0"/>
                </a:rPr>
                <a:t>) e carregue na tecla </a:t>
              </a:r>
              <a:r>
                <a:rPr lang="pt-PT" sz="1600" b="0" i="1" dirty="0">
                  <a:latin typeface="Arial" charset="0"/>
                </a:rPr>
                <a:t>DEL</a:t>
              </a:r>
              <a:endParaRPr lang="en-US" sz="1600" b="0" dirty="0">
                <a:latin typeface="Arial" charset="0"/>
              </a:endParaRPr>
            </a:p>
          </p:txBody>
        </p:sp>
        <p:sp>
          <p:nvSpPr>
            <p:cNvPr id="29712" name="Oval 16"/>
            <p:cNvSpPr>
              <a:spLocks noChangeArrowheads="1"/>
            </p:cNvSpPr>
            <p:nvPr/>
          </p:nvSpPr>
          <p:spPr bwMode="auto">
            <a:xfrm>
              <a:off x="240" y="3840"/>
              <a:ext cx="288" cy="288"/>
            </a:xfrm>
            <a:prstGeom prst="ellipse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pt-PT" sz="2000" b="0">
                  <a:latin typeface="Arial" charset="0"/>
                </a:rPr>
                <a:t>17</a:t>
              </a:r>
              <a:endParaRPr lang="en-US" sz="2000" b="0">
                <a:latin typeface="Arial" charset="0"/>
              </a:endParaRPr>
            </a:p>
          </p:txBody>
        </p:sp>
      </p:grpSp>
      <p:grpSp>
        <p:nvGrpSpPr>
          <p:cNvPr id="29731" name="Group 35"/>
          <p:cNvGrpSpPr>
            <a:grpSpLocks/>
          </p:cNvGrpSpPr>
          <p:nvPr/>
        </p:nvGrpSpPr>
        <p:grpSpPr bwMode="auto">
          <a:xfrm>
            <a:off x="5422900" y="3305175"/>
            <a:ext cx="3470275" cy="2436813"/>
            <a:chOff x="3416" y="2082"/>
            <a:chExt cx="2186" cy="1535"/>
          </a:xfrm>
        </p:grpSpPr>
        <p:sp>
          <p:nvSpPr>
            <p:cNvPr id="29713" name="Text Box 17"/>
            <p:cNvSpPr txBox="1">
              <a:spLocks noChangeArrowheads="1"/>
            </p:cNvSpPr>
            <p:nvPr/>
          </p:nvSpPr>
          <p:spPr bwMode="auto">
            <a:xfrm>
              <a:off x="3416" y="2082"/>
              <a:ext cx="2112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pt-PT" sz="1600" b="0">
                  <a:latin typeface="Arial" charset="0"/>
                </a:rPr>
                <a:t>Para apagar um fragmento de uma linha utiliza-se o botão </a:t>
              </a:r>
              <a:r>
                <a:rPr lang="pt-PT" sz="1600" b="0" i="1">
                  <a:latin typeface="Arial" charset="0"/>
                </a:rPr>
                <a:t>Zap</a:t>
              </a:r>
              <a:endParaRPr lang="en-US" sz="1600" b="0">
                <a:latin typeface="Arial" charset="0"/>
              </a:endParaRPr>
            </a:p>
          </p:txBody>
        </p:sp>
        <p:sp>
          <p:nvSpPr>
            <p:cNvPr id="29715" name="Oval 19"/>
            <p:cNvSpPr>
              <a:spLocks noChangeArrowheads="1"/>
            </p:cNvSpPr>
            <p:nvPr/>
          </p:nvSpPr>
          <p:spPr bwMode="auto">
            <a:xfrm>
              <a:off x="5314" y="2462"/>
              <a:ext cx="288" cy="288"/>
            </a:xfrm>
            <a:prstGeom prst="ellipse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pt-PT" sz="2000" b="0">
                  <a:latin typeface="Arial" charset="0"/>
                </a:rPr>
                <a:t>18</a:t>
              </a:r>
              <a:endParaRPr lang="en-US" sz="2000" b="0">
                <a:latin typeface="Arial" charset="0"/>
              </a:endParaRPr>
            </a:p>
          </p:txBody>
        </p:sp>
        <p:sp>
          <p:nvSpPr>
            <p:cNvPr id="29716" name="Line 20"/>
            <p:cNvSpPr>
              <a:spLocks noChangeShapeType="1"/>
            </p:cNvSpPr>
            <p:nvPr/>
          </p:nvSpPr>
          <p:spPr bwMode="auto">
            <a:xfrm flipH="1">
              <a:off x="4424" y="2614"/>
              <a:ext cx="890" cy="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718" name="Rectangle 22"/>
            <p:cNvSpPr>
              <a:spLocks noChangeArrowheads="1"/>
            </p:cNvSpPr>
            <p:nvPr/>
          </p:nvSpPr>
          <p:spPr bwMode="auto">
            <a:xfrm>
              <a:off x="4906" y="3521"/>
              <a:ext cx="96" cy="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cxnSp>
          <p:nvCxnSpPr>
            <p:cNvPr id="29719" name="AutoShape 23"/>
            <p:cNvCxnSpPr>
              <a:cxnSpLocks noChangeShapeType="1"/>
              <a:stCxn id="29715" idx="4"/>
              <a:endCxn id="29718" idx="3"/>
            </p:cNvCxnSpPr>
            <p:nvPr/>
          </p:nvCxnSpPr>
          <p:spPr bwMode="auto">
            <a:xfrm rot="5400000">
              <a:off x="4820" y="2932"/>
              <a:ext cx="819" cy="456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9727" name="Group 31"/>
          <p:cNvGrpSpPr>
            <a:grpSpLocks/>
          </p:cNvGrpSpPr>
          <p:nvPr/>
        </p:nvGrpSpPr>
        <p:grpSpPr bwMode="auto">
          <a:xfrm>
            <a:off x="4648200" y="0"/>
            <a:ext cx="4038600" cy="1371600"/>
            <a:chOff x="2928" y="0"/>
            <a:chExt cx="2544" cy="864"/>
          </a:xfrm>
        </p:grpSpPr>
        <p:sp>
          <p:nvSpPr>
            <p:cNvPr id="29706" name="Text Box 10"/>
            <p:cNvSpPr txBox="1">
              <a:spLocks noChangeArrowheads="1"/>
            </p:cNvSpPr>
            <p:nvPr/>
          </p:nvSpPr>
          <p:spPr bwMode="auto">
            <a:xfrm>
              <a:off x="2928" y="0"/>
              <a:ext cx="2304" cy="5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pt-PT" sz="1600" b="0">
                  <a:latin typeface="Arial" charset="0"/>
                </a:rPr>
                <a:t>e arraste o rato até ao pino do símbolo com o qual se pretende estabelecer a ligação </a:t>
              </a:r>
              <a:endParaRPr lang="en-US" sz="1600" b="0">
                <a:latin typeface="Arial" charset="0"/>
              </a:endParaRPr>
            </a:p>
          </p:txBody>
        </p:sp>
        <p:sp>
          <p:nvSpPr>
            <p:cNvPr id="29707" name="Oval 11"/>
            <p:cNvSpPr>
              <a:spLocks noChangeArrowheads="1"/>
            </p:cNvSpPr>
            <p:nvPr/>
          </p:nvSpPr>
          <p:spPr bwMode="auto">
            <a:xfrm>
              <a:off x="5184" y="432"/>
              <a:ext cx="288" cy="288"/>
            </a:xfrm>
            <a:prstGeom prst="ellipse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pt-PT" sz="2000" b="0">
                  <a:latin typeface="Arial" charset="0"/>
                </a:rPr>
                <a:t>15</a:t>
              </a:r>
              <a:endParaRPr lang="en-US" sz="2000" b="0">
                <a:latin typeface="Arial" charset="0"/>
              </a:endParaRPr>
            </a:p>
          </p:txBody>
        </p:sp>
        <p:sp>
          <p:nvSpPr>
            <p:cNvPr id="29721" name="Line 25"/>
            <p:cNvSpPr>
              <a:spLocks noChangeShapeType="1"/>
            </p:cNvSpPr>
            <p:nvPr/>
          </p:nvSpPr>
          <p:spPr bwMode="auto">
            <a:xfrm flipH="1">
              <a:off x="4992" y="624"/>
              <a:ext cx="19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29728" name="Group 32"/>
          <p:cNvGrpSpPr>
            <a:grpSpLocks/>
          </p:cNvGrpSpPr>
          <p:nvPr/>
        </p:nvGrpSpPr>
        <p:grpSpPr bwMode="auto">
          <a:xfrm>
            <a:off x="457200" y="2895600"/>
            <a:ext cx="3657600" cy="1905000"/>
            <a:chOff x="288" y="1824"/>
            <a:chExt cx="2304" cy="1200"/>
          </a:xfrm>
        </p:grpSpPr>
        <p:sp>
          <p:nvSpPr>
            <p:cNvPr id="29708" name="Text Box 12"/>
            <p:cNvSpPr txBox="1">
              <a:spLocks noChangeArrowheads="1"/>
            </p:cNvSpPr>
            <p:nvPr/>
          </p:nvSpPr>
          <p:spPr bwMode="auto">
            <a:xfrm>
              <a:off x="288" y="1824"/>
              <a:ext cx="1968" cy="6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pt-PT" sz="1600" b="0">
                  <a:latin typeface="Arial" charset="0"/>
                </a:rPr>
                <a:t>Deste modo pode-se interligar todas as portas lógicas. A forma de qualquer ligação é modificável com a ajuda do rato.</a:t>
              </a:r>
              <a:endParaRPr lang="en-US" sz="1600" b="0">
                <a:latin typeface="Arial" charset="0"/>
              </a:endParaRPr>
            </a:p>
          </p:txBody>
        </p:sp>
        <p:grpSp>
          <p:nvGrpSpPr>
            <p:cNvPr id="29725" name="Group 29"/>
            <p:cNvGrpSpPr>
              <a:grpSpLocks/>
            </p:cNvGrpSpPr>
            <p:nvPr/>
          </p:nvGrpSpPr>
          <p:grpSpPr bwMode="auto">
            <a:xfrm>
              <a:off x="2160" y="2112"/>
              <a:ext cx="432" cy="912"/>
              <a:chOff x="2160" y="2112"/>
              <a:chExt cx="432" cy="912"/>
            </a:xfrm>
          </p:grpSpPr>
          <p:sp>
            <p:nvSpPr>
              <p:cNvPr id="29709" name="Oval 13"/>
              <p:cNvSpPr>
                <a:spLocks noChangeArrowheads="1"/>
              </p:cNvSpPr>
              <p:nvPr/>
            </p:nvSpPr>
            <p:spPr bwMode="auto">
              <a:xfrm>
                <a:off x="2304" y="2112"/>
                <a:ext cx="288" cy="288"/>
              </a:xfrm>
              <a:prstGeom prst="ellipse">
                <a:avLst/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pt-PT" sz="2000" b="0">
                    <a:latin typeface="Arial" charset="0"/>
                  </a:rPr>
                  <a:t>16</a:t>
                </a:r>
                <a:endParaRPr lang="en-US" sz="2000" b="0">
                  <a:latin typeface="Arial" charset="0"/>
                </a:endParaRPr>
              </a:p>
            </p:txBody>
          </p:sp>
          <p:sp>
            <p:nvSpPr>
              <p:cNvPr id="29722" name="Line 26"/>
              <p:cNvSpPr>
                <a:spLocks noChangeShapeType="1"/>
              </p:cNvSpPr>
              <p:nvPr/>
            </p:nvSpPr>
            <p:spPr bwMode="auto">
              <a:xfrm flipH="1">
                <a:off x="2160" y="2400"/>
                <a:ext cx="288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9723" name="Line 27"/>
              <p:cNvSpPr>
                <a:spLocks noChangeShapeType="1"/>
              </p:cNvSpPr>
              <p:nvPr/>
            </p:nvSpPr>
            <p:spPr bwMode="auto">
              <a:xfrm flipH="1">
                <a:off x="2256" y="2400"/>
                <a:ext cx="192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9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" dur="500"/>
                                        <p:tgtEl>
                                          <p:spTgt spid="29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9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0" dur="500"/>
                                        <p:tgtEl>
                                          <p:spTgt spid="29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5" dur="500"/>
                                        <p:tgtEl>
                                          <p:spTgt spid="29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9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4" dur="500"/>
                                        <p:tgtEl>
                                          <p:spTgt spid="29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9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3" dur="500"/>
                                        <p:tgtEl>
                                          <p:spTgt spid="29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63" name="Object 67"/>
          <p:cNvGraphicFramePr>
            <a:graphicFrameLocks noChangeAspect="1"/>
          </p:cNvGraphicFramePr>
          <p:nvPr/>
        </p:nvGraphicFramePr>
        <p:xfrm>
          <a:off x="515938" y="4076700"/>
          <a:ext cx="3048000" cy="224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3" name="Bitmap Image" r:id="rId3" imgW="3048426" imgH="2247619" progId="Paint.Picture">
                  <p:embed/>
                </p:oleObj>
              </mc:Choice>
              <mc:Fallback>
                <p:oleObj name="Bitmap Image" r:id="rId3" imgW="3048426" imgH="2247619" progId="Paint.Picture">
                  <p:embed/>
                  <p:pic>
                    <p:nvPicPr>
                      <p:cNvPr id="0" name="Object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938" y="4076700"/>
                        <a:ext cx="3048000" cy="224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58" name="Group 62"/>
          <p:cNvGrpSpPr>
            <a:grpSpLocks/>
          </p:cNvGrpSpPr>
          <p:nvPr/>
        </p:nvGrpSpPr>
        <p:grpSpPr bwMode="auto">
          <a:xfrm>
            <a:off x="76200" y="76200"/>
            <a:ext cx="3886200" cy="990600"/>
            <a:chOff x="48" y="48"/>
            <a:chExt cx="2448" cy="624"/>
          </a:xfrm>
        </p:grpSpPr>
        <p:sp>
          <p:nvSpPr>
            <p:cNvPr id="4133" name="Text Box 37"/>
            <p:cNvSpPr txBox="1">
              <a:spLocks noChangeArrowheads="1"/>
            </p:cNvSpPr>
            <p:nvPr/>
          </p:nvSpPr>
          <p:spPr bwMode="auto">
            <a:xfrm>
              <a:off x="48" y="56"/>
              <a:ext cx="1968" cy="5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pt-PT" sz="1600" b="0">
                  <a:latin typeface="Arial" charset="0"/>
                </a:rPr>
                <a:t>Se apontar para uma linha e carregar no botão direito do rato aparecerá um menu</a:t>
              </a:r>
              <a:endParaRPr lang="en-US" sz="1600" b="0">
                <a:latin typeface="Arial" charset="0"/>
              </a:endParaRPr>
            </a:p>
          </p:txBody>
        </p:sp>
        <p:sp>
          <p:nvSpPr>
            <p:cNvPr id="4134" name="Oval 38"/>
            <p:cNvSpPr>
              <a:spLocks noChangeArrowheads="1"/>
            </p:cNvSpPr>
            <p:nvPr/>
          </p:nvSpPr>
          <p:spPr bwMode="auto">
            <a:xfrm>
              <a:off x="2208" y="48"/>
              <a:ext cx="288" cy="288"/>
            </a:xfrm>
            <a:prstGeom prst="ellipse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pt-PT" sz="2000" b="0">
                  <a:latin typeface="Arial" charset="0"/>
                </a:rPr>
                <a:t>19</a:t>
              </a:r>
              <a:endParaRPr lang="en-US" sz="2000" b="0">
                <a:latin typeface="Arial" charset="0"/>
              </a:endParaRPr>
            </a:p>
          </p:txBody>
        </p:sp>
        <p:sp>
          <p:nvSpPr>
            <p:cNvPr id="4135" name="Line 39"/>
            <p:cNvSpPr>
              <a:spLocks noChangeShapeType="1"/>
            </p:cNvSpPr>
            <p:nvPr/>
          </p:nvSpPr>
          <p:spPr bwMode="auto">
            <a:xfrm flipH="1">
              <a:off x="1680" y="288"/>
              <a:ext cx="576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aphicFrame>
        <p:nvGraphicFramePr>
          <p:cNvPr id="4138" name="Object 42"/>
          <p:cNvGraphicFramePr>
            <a:graphicFrameLocks noChangeAspect="1"/>
          </p:cNvGraphicFramePr>
          <p:nvPr/>
        </p:nvGraphicFramePr>
        <p:xfrm>
          <a:off x="4781550" y="1066800"/>
          <a:ext cx="4057650" cy="196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4" name="Bitmap Image" r:id="rId5" imgW="4057143" imgH="1961905" progId="Paint.Picture">
                  <p:embed/>
                </p:oleObj>
              </mc:Choice>
              <mc:Fallback>
                <p:oleObj name="Bitmap Image" r:id="rId5" imgW="4057143" imgH="1961905" progId="Paint.Picture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1550" y="1066800"/>
                        <a:ext cx="4057650" cy="196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40" name="Object 44"/>
          <p:cNvGraphicFramePr>
            <a:graphicFrameLocks noChangeAspect="1"/>
          </p:cNvGraphicFramePr>
          <p:nvPr/>
        </p:nvGraphicFramePr>
        <p:xfrm>
          <a:off x="4724400" y="5013325"/>
          <a:ext cx="3733800" cy="156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5" name="Bitmap Image" r:id="rId7" imgW="3209524" imgH="1343212" progId="Paint.Picture">
                  <p:embed/>
                </p:oleObj>
              </mc:Choice>
              <mc:Fallback>
                <p:oleObj name="Bitmap Image" r:id="rId7" imgW="3209524" imgH="1343212" progId="Paint.Picture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5013325"/>
                        <a:ext cx="3733800" cy="156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61" name="Group 65"/>
          <p:cNvGrpSpPr>
            <a:grpSpLocks/>
          </p:cNvGrpSpPr>
          <p:nvPr/>
        </p:nvGrpSpPr>
        <p:grpSpPr bwMode="auto">
          <a:xfrm>
            <a:off x="4800600" y="180975"/>
            <a:ext cx="3657600" cy="2257425"/>
            <a:chOff x="3024" y="114"/>
            <a:chExt cx="2304" cy="1422"/>
          </a:xfrm>
        </p:grpSpPr>
        <p:sp>
          <p:nvSpPr>
            <p:cNvPr id="4142" name="Oval 46"/>
            <p:cNvSpPr>
              <a:spLocks noChangeArrowheads="1"/>
            </p:cNvSpPr>
            <p:nvPr/>
          </p:nvSpPr>
          <p:spPr bwMode="auto">
            <a:xfrm>
              <a:off x="5040" y="336"/>
              <a:ext cx="288" cy="288"/>
            </a:xfrm>
            <a:prstGeom prst="ellipse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pt-PT" sz="2000" b="0">
                  <a:latin typeface="Arial" charset="0"/>
                </a:rPr>
                <a:t>20</a:t>
              </a:r>
              <a:endParaRPr lang="en-US" sz="2000" b="0">
                <a:latin typeface="Arial" charset="0"/>
              </a:endParaRPr>
            </a:p>
          </p:txBody>
        </p:sp>
        <p:sp>
          <p:nvSpPr>
            <p:cNvPr id="4143" name="Text Box 47"/>
            <p:cNvSpPr txBox="1">
              <a:spLocks noChangeArrowheads="1"/>
            </p:cNvSpPr>
            <p:nvPr/>
          </p:nvSpPr>
          <p:spPr bwMode="auto">
            <a:xfrm>
              <a:off x="3024" y="114"/>
              <a:ext cx="1968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pt-PT" sz="1600" b="0">
                  <a:latin typeface="Arial" charset="0"/>
                </a:rPr>
                <a:t>Este menu pode ser usado para especificar o nome de um sinal  </a:t>
              </a:r>
              <a:endParaRPr lang="en-US" sz="1600" b="0">
                <a:latin typeface="Arial" charset="0"/>
              </a:endParaRPr>
            </a:p>
          </p:txBody>
        </p:sp>
        <p:sp>
          <p:nvSpPr>
            <p:cNvPr id="4144" name="Line 48"/>
            <p:cNvSpPr>
              <a:spLocks noChangeShapeType="1"/>
            </p:cNvSpPr>
            <p:nvPr/>
          </p:nvSpPr>
          <p:spPr bwMode="auto">
            <a:xfrm flipH="1">
              <a:off x="3888" y="576"/>
              <a:ext cx="120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145" name="Line 49"/>
            <p:cNvSpPr>
              <a:spLocks noChangeShapeType="1"/>
            </p:cNvSpPr>
            <p:nvPr/>
          </p:nvSpPr>
          <p:spPr bwMode="auto">
            <a:xfrm flipH="1">
              <a:off x="5088" y="624"/>
              <a:ext cx="96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164" name="Group 68"/>
          <p:cNvGrpSpPr>
            <a:grpSpLocks/>
          </p:cNvGrpSpPr>
          <p:nvPr/>
        </p:nvGrpSpPr>
        <p:grpSpPr bwMode="auto">
          <a:xfrm>
            <a:off x="152400" y="3060700"/>
            <a:ext cx="3987800" cy="1952625"/>
            <a:chOff x="96" y="1928"/>
            <a:chExt cx="2512" cy="1230"/>
          </a:xfrm>
        </p:grpSpPr>
        <p:sp>
          <p:nvSpPr>
            <p:cNvPr id="4147" name="Text Box 51"/>
            <p:cNvSpPr txBox="1">
              <a:spLocks noChangeArrowheads="1"/>
            </p:cNvSpPr>
            <p:nvPr/>
          </p:nvSpPr>
          <p:spPr bwMode="auto">
            <a:xfrm>
              <a:off x="96" y="1928"/>
              <a:ext cx="1968" cy="5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pt-PT" sz="1600" b="0">
                  <a:latin typeface="Arial" charset="0"/>
                </a:rPr>
                <a:t>Como alternativa, pode-se nomear um sinal com a ajuda do botão </a:t>
              </a:r>
              <a:r>
                <a:rPr lang="pt-PT" sz="1600" b="0" i="1">
                  <a:latin typeface="Arial" charset="0"/>
                </a:rPr>
                <a:t>Naming</a:t>
              </a:r>
              <a:endParaRPr lang="en-US" sz="1600" b="0">
                <a:latin typeface="Arial" charset="0"/>
              </a:endParaRPr>
            </a:p>
          </p:txBody>
        </p:sp>
        <p:sp>
          <p:nvSpPr>
            <p:cNvPr id="4148" name="Oval 52"/>
            <p:cNvSpPr>
              <a:spLocks noChangeArrowheads="1"/>
            </p:cNvSpPr>
            <p:nvPr/>
          </p:nvSpPr>
          <p:spPr bwMode="auto">
            <a:xfrm>
              <a:off x="2320" y="2112"/>
              <a:ext cx="288" cy="288"/>
            </a:xfrm>
            <a:prstGeom prst="ellipse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pt-PT" sz="2000" b="0">
                  <a:latin typeface="Arial" charset="0"/>
                </a:rPr>
                <a:t>21</a:t>
              </a:r>
              <a:endParaRPr lang="en-US" sz="2000" b="0">
                <a:latin typeface="Arial" charset="0"/>
              </a:endParaRPr>
            </a:p>
          </p:txBody>
        </p:sp>
        <p:sp>
          <p:nvSpPr>
            <p:cNvPr id="4149" name="Line 53"/>
            <p:cNvSpPr>
              <a:spLocks noChangeShapeType="1"/>
            </p:cNvSpPr>
            <p:nvPr/>
          </p:nvSpPr>
          <p:spPr bwMode="auto">
            <a:xfrm flipH="1">
              <a:off x="1429" y="2341"/>
              <a:ext cx="91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150" name="Line 54"/>
            <p:cNvSpPr>
              <a:spLocks noChangeShapeType="1"/>
            </p:cNvSpPr>
            <p:nvPr/>
          </p:nvSpPr>
          <p:spPr bwMode="auto">
            <a:xfrm flipH="1">
              <a:off x="1066" y="2341"/>
              <a:ext cx="1285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155" name="Rectangle 59"/>
          <p:cNvSpPr>
            <a:spLocks noChangeArrowheads="1"/>
          </p:cNvSpPr>
          <p:nvPr/>
        </p:nvSpPr>
        <p:spPr bwMode="auto">
          <a:xfrm>
            <a:off x="6400800" y="4114800"/>
            <a:ext cx="6096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156" name="Rectangle 60"/>
          <p:cNvSpPr>
            <a:spLocks noChangeArrowheads="1"/>
          </p:cNvSpPr>
          <p:nvPr/>
        </p:nvSpPr>
        <p:spPr bwMode="auto">
          <a:xfrm>
            <a:off x="5943600" y="2362200"/>
            <a:ext cx="5334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4160" name="Group 64"/>
          <p:cNvGrpSpPr>
            <a:grpSpLocks/>
          </p:cNvGrpSpPr>
          <p:nvPr/>
        </p:nvGrpSpPr>
        <p:grpSpPr bwMode="auto">
          <a:xfrm>
            <a:off x="4495800" y="2514600"/>
            <a:ext cx="4419600" cy="2514600"/>
            <a:chOff x="2832" y="1584"/>
            <a:chExt cx="2784" cy="1584"/>
          </a:xfrm>
        </p:grpSpPr>
        <p:sp>
          <p:nvSpPr>
            <p:cNvPr id="4151" name="Oval 55"/>
            <p:cNvSpPr>
              <a:spLocks noChangeArrowheads="1"/>
            </p:cNvSpPr>
            <p:nvPr/>
          </p:nvSpPr>
          <p:spPr bwMode="auto">
            <a:xfrm>
              <a:off x="2832" y="2496"/>
              <a:ext cx="288" cy="288"/>
            </a:xfrm>
            <a:prstGeom prst="ellipse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pt-PT" sz="2000" b="0">
                  <a:latin typeface="Arial" charset="0"/>
                </a:rPr>
                <a:t>22</a:t>
              </a:r>
              <a:endParaRPr lang="en-US" sz="2000" b="0">
                <a:latin typeface="Arial" charset="0"/>
              </a:endParaRPr>
            </a:p>
          </p:txBody>
        </p:sp>
        <p:sp>
          <p:nvSpPr>
            <p:cNvPr id="4152" name="Text Box 56"/>
            <p:cNvSpPr txBox="1">
              <a:spLocks noChangeArrowheads="1"/>
            </p:cNvSpPr>
            <p:nvPr/>
          </p:nvSpPr>
          <p:spPr bwMode="auto">
            <a:xfrm>
              <a:off x="3264" y="2112"/>
              <a:ext cx="2352" cy="9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pt-PT" sz="1600" b="0" dirty="0">
                  <a:latin typeface="Arial" charset="0"/>
                </a:rPr>
                <a:t>Todos os sinais nomeados são adicionados automaticamente à janela </a:t>
              </a:r>
              <a:r>
                <a:rPr lang="pt-PT" sz="1600" b="0" i="1" dirty="0">
                  <a:latin typeface="Arial" charset="0"/>
                </a:rPr>
                <a:t>Timing</a:t>
              </a:r>
              <a:r>
                <a:rPr lang="pt-PT" sz="1600" b="0" dirty="0">
                  <a:latin typeface="Arial" charset="0"/>
                </a:rPr>
                <a:t>. Se isto não acontecer verifique se a opção </a:t>
              </a:r>
              <a:r>
                <a:rPr lang="pt-PT" sz="1600" b="0" i="1" dirty="0">
                  <a:latin typeface="Arial" charset="0"/>
                </a:rPr>
                <a:t>Visible </a:t>
              </a:r>
              <a:r>
                <a:rPr lang="pt-PT" sz="1600" b="0" dirty="0">
                  <a:latin typeface="Arial" charset="0"/>
                </a:rPr>
                <a:t>foi </a:t>
              </a:r>
              <a:r>
                <a:rPr lang="pt-PT" sz="1600" b="0" dirty="0" smtClean="0">
                  <a:latin typeface="Arial" charset="0"/>
                </a:rPr>
                <a:t>selecionada </a:t>
              </a:r>
              <a:r>
                <a:rPr lang="pt-PT" sz="1600" b="0" dirty="0">
                  <a:latin typeface="Arial" charset="0"/>
                </a:rPr>
                <a:t>e se a opção do menu </a:t>
              </a:r>
              <a:r>
                <a:rPr lang="pt-PT" sz="1600" b="0" i="1" dirty="0">
                  <a:latin typeface="Arial" charset="0"/>
                </a:rPr>
                <a:t>Simulation -&gt; Add Automatically </a:t>
              </a:r>
              <a:r>
                <a:rPr lang="pt-PT" sz="1600" b="0" dirty="0">
                  <a:latin typeface="Arial" charset="0"/>
                </a:rPr>
                <a:t>é </a:t>
              </a:r>
              <a:r>
                <a:rPr lang="pt-PT" sz="1600" b="0" dirty="0" smtClean="0">
                  <a:latin typeface="Arial" charset="0"/>
                </a:rPr>
                <a:t>ativada</a:t>
              </a:r>
              <a:r>
                <a:rPr lang="pt-PT" sz="1600" b="0" dirty="0">
                  <a:latin typeface="Arial" charset="0"/>
                </a:rPr>
                <a:t>.</a:t>
              </a:r>
              <a:endParaRPr lang="en-US" sz="1600" b="0" dirty="0">
                <a:latin typeface="Arial" charset="0"/>
              </a:endParaRPr>
            </a:p>
          </p:txBody>
        </p:sp>
        <p:sp>
          <p:nvSpPr>
            <p:cNvPr id="4153" name="Line 57"/>
            <p:cNvSpPr>
              <a:spLocks noChangeShapeType="1"/>
            </p:cNvSpPr>
            <p:nvPr/>
          </p:nvSpPr>
          <p:spPr bwMode="auto">
            <a:xfrm>
              <a:off x="3024" y="2784"/>
              <a:ext cx="24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cxnSp>
          <p:nvCxnSpPr>
            <p:cNvPr id="4157" name="AutoShape 61"/>
            <p:cNvCxnSpPr>
              <a:cxnSpLocks noChangeShapeType="1"/>
              <a:stCxn id="4155" idx="0"/>
              <a:endCxn id="4156" idx="2"/>
            </p:cNvCxnSpPr>
            <p:nvPr/>
          </p:nvCxnSpPr>
          <p:spPr bwMode="auto">
            <a:xfrm flipH="1" flipV="1">
              <a:off x="3912" y="1584"/>
              <a:ext cx="312" cy="100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aphicFrame>
        <p:nvGraphicFramePr>
          <p:cNvPr id="4162" name="Object 66"/>
          <p:cNvGraphicFramePr>
            <a:graphicFrameLocks noChangeAspect="1"/>
          </p:cNvGraphicFramePr>
          <p:nvPr/>
        </p:nvGraphicFramePr>
        <p:xfrm>
          <a:off x="395288" y="1052513"/>
          <a:ext cx="3529012" cy="174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6" name="Bitmap Image" r:id="rId9" imgW="3885714" imgH="1924319" progId="Paint.Picture">
                  <p:embed/>
                </p:oleObj>
              </mc:Choice>
              <mc:Fallback>
                <p:oleObj name="Bitmap Image" r:id="rId9" imgW="3885714" imgH="1924319" progId="Paint.Picture">
                  <p:embed/>
                  <p:pic>
                    <p:nvPicPr>
                      <p:cNvPr id="0" name="Object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1052513"/>
                        <a:ext cx="3529012" cy="174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" dur="500"/>
                                        <p:tgtEl>
                                          <p:spTgt spid="4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0" dur="500"/>
                                        <p:tgtEl>
                                          <p:spTgt spid="4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9" dur="500"/>
                                        <p:tgtEl>
                                          <p:spTgt spid="4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4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8" dur="500"/>
                                        <p:tgtEl>
                                          <p:spTgt spid="4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73" name="Object 153"/>
          <p:cNvGraphicFramePr>
            <a:graphicFrameLocks noChangeAspect="1"/>
          </p:cNvGraphicFramePr>
          <p:nvPr/>
        </p:nvGraphicFramePr>
        <p:xfrm>
          <a:off x="1762125" y="5919788"/>
          <a:ext cx="100965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0" name="Bitmap Image" r:id="rId3" imgW="1009791" imgH="533474" progId="Paint.Picture">
                  <p:embed/>
                </p:oleObj>
              </mc:Choice>
              <mc:Fallback>
                <p:oleObj name="Bitmap Image" r:id="rId3" imgW="1009791" imgH="533474" progId="Paint.Picture">
                  <p:embed/>
                  <p:pic>
                    <p:nvPicPr>
                      <p:cNvPr id="0" name="Object 1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2125" y="5919788"/>
                        <a:ext cx="100965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59" name="Object 139"/>
          <p:cNvGraphicFramePr>
            <a:graphicFrameLocks noChangeAspect="1"/>
          </p:cNvGraphicFramePr>
          <p:nvPr/>
        </p:nvGraphicFramePr>
        <p:xfrm>
          <a:off x="317500" y="3284538"/>
          <a:ext cx="159067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1" name="Bitmap Image" r:id="rId5" imgW="1590897" imgH="514422" progId="Paint.Picture">
                  <p:embed/>
                </p:oleObj>
              </mc:Choice>
              <mc:Fallback>
                <p:oleObj name="Bitmap Image" r:id="rId5" imgW="1590897" imgH="514422" progId="Paint.Picture">
                  <p:embed/>
                  <p:pic>
                    <p:nvPicPr>
                      <p:cNvPr id="0" name="Object 1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500" y="3284538"/>
                        <a:ext cx="1590675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58" name="Object 138"/>
          <p:cNvGraphicFramePr>
            <a:graphicFrameLocks noChangeAspect="1"/>
          </p:cNvGraphicFramePr>
          <p:nvPr/>
        </p:nvGraphicFramePr>
        <p:xfrm>
          <a:off x="323850" y="3994150"/>
          <a:ext cx="233362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2" name="Bitmap Image" r:id="rId7" imgW="2333333" imgH="514422" progId="Paint.Picture">
                  <p:embed/>
                </p:oleObj>
              </mc:Choice>
              <mc:Fallback>
                <p:oleObj name="Bitmap Image" r:id="rId7" imgW="2333333" imgH="514422" progId="Paint.Picture">
                  <p:embed/>
                  <p:pic>
                    <p:nvPicPr>
                      <p:cNvPr id="0" name="Object 1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3994150"/>
                        <a:ext cx="2333625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56" name="Object 136"/>
          <p:cNvGraphicFramePr>
            <a:graphicFrameLocks noChangeAspect="1"/>
          </p:cNvGraphicFramePr>
          <p:nvPr/>
        </p:nvGraphicFramePr>
        <p:xfrm>
          <a:off x="292100" y="2492375"/>
          <a:ext cx="140017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3" name="Bitmap Image" r:id="rId9" imgW="1400000" imgH="533474" progId="Paint.Picture">
                  <p:embed/>
                </p:oleObj>
              </mc:Choice>
              <mc:Fallback>
                <p:oleObj name="Bitmap Image" r:id="rId9" imgW="1400000" imgH="533474" progId="Paint.Picture">
                  <p:embed/>
                  <p:pic>
                    <p:nvPicPr>
                      <p:cNvPr id="0" name="Object 1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100" y="2492375"/>
                        <a:ext cx="1400175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55" name="Object 135"/>
          <p:cNvGraphicFramePr>
            <a:graphicFrameLocks noChangeAspect="1"/>
          </p:cNvGraphicFramePr>
          <p:nvPr/>
        </p:nvGraphicFramePr>
        <p:xfrm>
          <a:off x="282575" y="1776413"/>
          <a:ext cx="205740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4" name="Bitmap Image" r:id="rId11" imgW="2057143" imgH="428798" progId="Paint.Picture">
                  <p:embed/>
                </p:oleObj>
              </mc:Choice>
              <mc:Fallback>
                <p:oleObj name="Bitmap Image" r:id="rId11" imgW="2057143" imgH="428798" progId="Paint.Picture">
                  <p:embed/>
                  <p:pic>
                    <p:nvPicPr>
                      <p:cNvPr id="0" name="Object 1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575" y="1776413"/>
                        <a:ext cx="2057400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54" name="Object 134"/>
          <p:cNvGraphicFramePr>
            <a:graphicFrameLocks noChangeAspect="1"/>
          </p:cNvGraphicFramePr>
          <p:nvPr/>
        </p:nvGraphicFramePr>
        <p:xfrm>
          <a:off x="323850" y="1012825"/>
          <a:ext cx="154305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5" name="Bitmap Image" r:id="rId13" imgW="1542857" imgH="504762" progId="Paint.Picture">
                  <p:embed/>
                </p:oleObj>
              </mc:Choice>
              <mc:Fallback>
                <p:oleObj name="Bitmap Image" r:id="rId13" imgW="1542857" imgH="504762" progId="Paint.Picture">
                  <p:embed/>
                  <p:pic>
                    <p:nvPicPr>
                      <p:cNvPr id="0" name="Object 1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1012825"/>
                        <a:ext cx="1543050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16" name="Object 96"/>
          <p:cNvGraphicFramePr>
            <a:graphicFrameLocks noChangeAspect="1"/>
          </p:cNvGraphicFramePr>
          <p:nvPr/>
        </p:nvGraphicFramePr>
        <p:xfrm>
          <a:off x="4648200" y="3581400"/>
          <a:ext cx="4210050" cy="311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6" name="Bitmap Image" r:id="rId15" imgW="4210638" imgH="3115110" progId="Paint.Picture">
                  <p:embed/>
                </p:oleObj>
              </mc:Choice>
              <mc:Fallback>
                <p:oleObj name="Bitmap Image" r:id="rId15" imgW="4210638" imgH="3115110" progId="Paint.Picture">
                  <p:embed/>
                  <p:pic>
                    <p:nvPicPr>
                      <p:cNvPr id="0" name="Object 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3581400"/>
                        <a:ext cx="4210050" cy="311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17" name="Object 97"/>
          <p:cNvGraphicFramePr>
            <a:graphicFrameLocks noChangeAspect="1"/>
          </p:cNvGraphicFramePr>
          <p:nvPr/>
        </p:nvGraphicFramePr>
        <p:xfrm>
          <a:off x="6934200" y="1371600"/>
          <a:ext cx="75247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7" name="Bitmap Image" r:id="rId17" imgW="752381" imgH="523810" progId="Paint.Picture">
                  <p:embed/>
                </p:oleObj>
              </mc:Choice>
              <mc:Fallback>
                <p:oleObj name="Bitmap Image" r:id="rId17" imgW="752381" imgH="523810" progId="Paint.Picture">
                  <p:embed/>
                  <p:pic>
                    <p:nvPicPr>
                      <p:cNvPr id="0" name="Object 9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0" y="1371600"/>
                        <a:ext cx="752475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249" name="Group 129"/>
          <p:cNvGrpSpPr>
            <a:grpSpLocks/>
          </p:cNvGrpSpPr>
          <p:nvPr/>
        </p:nvGrpSpPr>
        <p:grpSpPr bwMode="auto">
          <a:xfrm>
            <a:off x="304800" y="152400"/>
            <a:ext cx="3187700" cy="457200"/>
            <a:chOff x="96" y="96"/>
            <a:chExt cx="2008" cy="288"/>
          </a:xfrm>
        </p:grpSpPr>
        <p:sp>
          <p:nvSpPr>
            <p:cNvPr id="5219" name="Text Box 99"/>
            <p:cNvSpPr txBox="1">
              <a:spLocks noChangeArrowheads="1"/>
            </p:cNvSpPr>
            <p:nvPr/>
          </p:nvSpPr>
          <p:spPr bwMode="auto">
            <a:xfrm>
              <a:off x="136" y="156"/>
              <a:ext cx="196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pt-PT" sz="1600" b="0">
                  <a:latin typeface="Arial" charset="0"/>
                </a:rPr>
                <a:t>Opções do simulador:</a:t>
              </a:r>
              <a:endParaRPr lang="en-US" sz="1600" b="0">
                <a:latin typeface="Arial" charset="0"/>
              </a:endParaRPr>
            </a:p>
          </p:txBody>
        </p:sp>
        <p:sp>
          <p:nvSpPr>
            <p:cNvPr id="5220" name="Oval 100"/>
            <p:cNvSpPr>
              <a:spLocks noChangeArrowheads="1"/>
            </p:cNvSpPr>
            <p:nvPr/>
          </p:nvSpPr>
          <p:spPr bwMode="auto">
            <a:xfrm>
              <a:off x="96" y="96"/>
              <a:ext cx="288" cy="288"/>
            </a:xfrm>
            <a:prstGeom prst="ellipse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pt-PT" sz="2000" b="0">
                  <a:latin typeface="Arial" charset="0"/>
                </a:rPr>
                <a:t>23</a:t>
              </a:r>
              <a:endParaRPr lang="en-US" sz="2000" b="0">
                <a:latin typeface="Arial" charset="0"/>
              </a:endParaRPr>
            </a:p>
          </p:txBody>
        </p:sp>
      </p:grpSp>
      <p:grpSp>
        <p:nvGrpSpPr>
          <p:cNvPr id="5248" name="Group 128"/>
          <p:cNvGrpSpPr>
            <a:grpSpLocks/>
          </p:cNvGrpSpPr>
          <p:nvPr/>
        </p:nvGrpSpPr>
        <p:grpSpPr bwMode="auto">
          <a:xfrm>
            <a:off x="5562600" y="228600"/>
            <a:ext cx="3124200" cy="1371600"/>
            <a:chOff x="3504" y="144"/>
            <a:chExt cx="1968" cy="864"/>
          </a:xfrm>
        </p:grpSpPr>
        <p:sp>
          <p:nvSpPr>
            <p:cNvPr id="5229" name="Text Box 109"/>
            <p:cNvSpPr txBox="1">
              <a:spLocks noChangeArrowheads="1"/>
            </p:cNvSpPr>
            <p:nvPr/>
          </p:nvSpPr>
          <p:spPr bwMode="auto">
            <a:xfrm>
              <a:off x="3504" y="144"/>
              <a:ext cx="1968" cy="5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pt-PT" sz="1600" b="0">
                  <a:latin typeface="Arial" charset="0"/>
                </a:rPr>
                <a:t>Para melhorar a visualização dos diagramas temporais pode-se utilizar as opções de </a:t>
              </a:r>
              <a:r>
                <a:rPr lang="pt-PT" sz="1600" b="0" i="1">
                  <a:latin typeface="Arial" charset="0"/>
                </a:rPr>
                <a:t>Zoom</a:t>
              </a:r>
              <a:endParaRPr lang="en-US" sz="1600" b="0">
                <a:latin typeface="Arial" charset="0"/>
              </a:endParaRPr>
            </a:p>
          </p:txBody>
        </p:sp>
        <p:sp>
          <p:nvSpPr>
            <p:cNvPr id="5238" name="Oval 118"/>
            <p:cNvSpPr>
              <a:spLocks noChangeArrowheads="1"/>
            </p:cNvSpPr>
            <p:nvPr/>
          </p:nvSpPr>
          <p:spPr bwMode="auto">
            <a:xfrm>
              <a:off x="3552" y="720"/>
              <a:ext cx="288" cy="288"/>
            </a:xfrm>
            <a:prstGeom prst="ellipse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pt-PT" sz="2000" b="0">
                  <a:latin typeface="Arial" charset="0"/>
                </a:rPr>
                <a:t>24</a:t>
              </a:r>
              <a:endParaRPr lang="en-US" sz="2000" b="0">
                <a:latin typeface="Arial" charset="0"/>
              </a:endParaRPr>
            </a:p>
          </p:txBody>
        </p:sp>
        <p:sp>
          <p:nvSpPr>
            <p:cNvPr id="5239" name="Line 119"/>
            <p:cNvSpPr>
              <a:spLocks noChangeShapeType="1"/>
            </p:cNvSpPr>
            <p:nvPr/>
          </p:nvSpPr>
          <p:spPr bwMode="auto">
            <a:xfrm>
              <a:off x="3840" y="912"/>
              <a:ext cx="528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5247" name="Group 127"/>
          <p:cNvGrpSpPr>
            <a:grpSpLocks/>
          </p:cNvGrpSpPr>
          <p:nvPr/>
        </p:nvGrpSpPr>
        <p:grpSpPr bwMode="auto">
          <a:xfrm>
            <a:off x="5867400" y="2374900"/>
            <a:ext cx="3352800" cy="1358900"/>
            <a:chOff x="3696" y="1496"/>
            <a:chExt cx="2112" cy="856"/>
          </a:xfrm>
        </p:grpSpPr>
        <p:sp>
          <p:nvSpPr>
            <p:cNvPr id="5240" name="Oval 120"/>
            <p:cNvSpPr>
              <a:spLocks noChangeArrowheads="1"/>
            </p:cNvSpPr>
            <p:nvPr/>
          </p:nvSpPr>
          <p:spPr bwMode="auto">
            <a:xfrm>
              <a:off x="3696" y="1632"/>
              <a:ext cx="288" cy="288"/>
            </a:xfrm>
            <a:prstGeom prst="ellipse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pt-PT" sz="2000" b="0">
                  <a:latin typeface="Arial" charset="0"/>
                </a:rPr>
                <a:t>25</a:t>
              </a:r>
              <a:endParaRPr lang="en-US" sz="2000" b="0">
                <a:latin typeface="Arial" charset="0"/>
              </a:endParaRPr>
            </a:p>
          </p:txBody>
        </p:sp>
        <p:sp>
          <p:nvSpPr>
            <p:cNvPr id="5241" name="Text Box 121"/>
            <p:cNvSpPr txBox="1">
              <a:spLocks noChangeArrowheads="1"/>
            </p:cNvSpPr>
            <p:nvPr/>
          </p:nvSpPr>
          <p:spPr bwMode="auto">
            <a:xfrm>
              <a:off x="3984" y="1496"/>
              <a:ext cx="1824" cy="6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pt-PT" sz="1600" b="0">
                  <a:latin typeface="Arial" charset="0"/>
                </a:rPr>
                <a:t>Pode mudar do estado do </a:t>
              </a:r>
              <a:r>
                <a:rPr lang="pt-PT" sz="1600" b="0" i="1">
                  <a:latin typeface="Arial" charset="0"/>
                </a:rPr>
                <a:t>Binary Switch </a:t>
              </a:r>
              <a:r>
                <a:rPr lang="pt-PT" sz="1600" b="0">
                  <a:latin typeface="Arial" charset="0"/>
                </a:rPr>
                <a:t>clicando nele com o botão esquerdo do rato durante a simulação</a:t>
              </a:r>
              <a:endParaRPr lang="en-US" sz="1600" b="0">
                <a:latin typeface="Arial" charset="0"/>
              </a:endParaRPr>
            </a:p>
          </p:txBody>
        </p:sp>
        <p:sp>
          <p:nvSpPr>
            <p:cNvPr id="5242" name="Line 122"/>
            <p:cNvSpPr>
              <a:spLocks noChangeShapeType="1"/>
            </p:cNvSpPr>
            <p:nvPr/>
          </p:nvSpPr>
          <p:spPr bwMode="auto">
            <a:xfrm flipH="1">
              <a:off x="3744" y="1920"/>
              <a:ext cx="96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5246" name="Group 126"/>
          <p:cNvGrpSpPr>
            <a:grpSpLocks/>
          </p:cNvGrpSpPr>
          <p:nvPr/>
        </p:nvGrpSpPr>
        <p:grpSpPr bwMode="auto">
          <a:xfrm>
            <a:off x="381000" y="4868863"/>
            <a:ext cx="3352800" cy="1219200"/>
            <a:chOff x="240" y="2784"/>
            <a:chExt cx="2112" cy="768"/>
          </a:xfrm>
        </p:grpSpPr>
        <p:sp>
          <p:nvSpPr>
            <p:cNvPr id="5243" name="Oval 123"/>
            <p:cNvSpPr>
              <a:spLocks noChangeArrowheads="1"/>
            </p:cNvSpPr>
            <p:nvPr/>
          </p:nvSpPr>
          <p:spPr bwMode="auto">
            <a:xfrm>
              <a:off x="240" y="2840"/>
              <a:ext cx="288" cy="288"/>
            </a:xfrm>
            <a:prstGeom prst="ellipse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pt-PT" sz="2000" b="0">
                  <a:latin typeface="Arial" charset="0"/>
                </a:rPr>
                <a:t>26</a:t>
              </a:r>
              <a:endParaRPr lang="en-US" sz="2000" b="0">
                <a:latin typeface="Arial" charset="0"/>
              </a:endParaRPr>
            </a:p>
          </p:txBody>
        </p:sp>
        <p:sp>
          <p:nvSpPr>
            <p:cNvPr id="5244" name="Text Box 124"/>
            <p:cNvSpPr txBox="1">
              <a:spLocks noChangeArrowheads="1"/>
            </p:cNvSpPr>
            <p:nvPr/>
          </p:nvSpPr>
          <p:spPr bwMode="auto">
            <a:xfrm>
              <a:off x="768" y="2784"/>
              <a:ext cx="1584" cy="5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pt-PT" sz="1600" b="0">
                  <a:latin typeface="Arial" charset="0"/>
                </a:rPr>
                <a:t>Com a ajuda deste botão pode-se esconder a janela </a:t>
              </a:r>
              <a:r>
                <a:rPr lang="pt-PT" sz="1600" b="0" i="1">
                  <a:latin typeface="Arial" charset="0"/>
                </a:rPr>
                <a:t>Timing</a:t>
              </a:r>
              <a:endParaRPr lang="en-US" sz="1600" b="0">
                <a:latin typeface="Arial" charset="0"/>
              </a:endParaRPr>
            </a:p>
          </p:txBody>
        </p:sp>
        <p:sp>
          <p:nvSpPr>
            <p:cNvPr id="5245" name="Line 125"/>
            <p:cNvSpPr>
              <a:spLocks noChangeShapeType="1"/>
            </p:cNvSpPr>
            <p:nvPr/>
          </p:nvSpPr>
          <p:spPr bwMode="auto">
            <a:xfrm>
              <a:off x="480" y="3120"/>
              <a:ext cx="624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5264" name="Group 144"/>
          <p:cNvGrpSpPr>
            <a:grpSpLocks/>
          </p:cNvGrpSpPr>
          <p:nvPr/>
        </p:nvGrpSpPr>
        <p:grpSpPr bwMode="auto">
          <a:xfrm>
            <a:off x="539750" y="620713"/>
            <a:ext cx="4464050" cy="671512"/>
            <a:chOff x="340" y="391"/>
            <a:chExt cx="2812" cy="423"/>
          </a:xfrm>
        </p:grpSpPr>
        <p:sp>
          <p:nvSpPr>
            <p:cNvPr id="5225" name="Text Box 105"/>
            <p:cNvSpPr txBox="1">
              <a:spLocks noChangeArrowheads="1"/>
            </p:cNvSpPr>
            <p:nvPr/>
          </p:nvSpPr>
          <p:spPr bwMode="auto">
            <a:xfrm>
              <a:off x="1184" y="602"/>
              <a:ext cx="196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pt-PT" sz="1600" b="0">
                  <a:latin typeface="Arial" charset="0"/>
                </a:rPr>
                <a:t>Simulação passo a passo</a:t>
              </a:r>
              <a:endParaRPr lang="en-US" sz="1600" b="0">
                <a:latin typeface="Arial" charset="0"/>
              </a:endParaRPr>
            </a:p>
          </p:txBody>
        </p:sp>
        <p:sp>
          <p:nvSpPr>
            <p:cNvPr id="5263" name="Line 143"/>
            <p:cNvSpPr>
              <a:spLocks noChangeShapeType="1"/>
            </p:cNvSpPr>
            <p:nvPr/>
          </p:nvSpPr>
          <p:spPr bwMode="auto">
            <a:xfrm>
              <a:off x="340" y="391"/>
              <a:ext cx="91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5266" name="Group 146"/>
          <p:cNvGrpSpPr>
            <a:grpSpLocks/>
          </p:cNvGrpSpPr>
          <p:nvPr/>
        </p:nvGrpSpPr>
        <p:grpSpPr bwMode="auto">
          <a:xfrm>
            <a:off x="539750" y="620713"/>
            <a:ext cx="4679950" cy="1471612"/>
            <a:chOff x="340" y="391"/>
            <a:chExt cx="2948" cy="927"/>
          </a:xfrm>
        </p:grpSpPr>
        <p:sp>
          <p:nvSpPr>
            <p:cNvPr id="5226" name="Text Box 106"/>
            <p:cNvSpPr txBox="1">
              <a:spLocks noChangeArrowheads="1"/>
            </p:cNvSpPr>
            <p:nvPr/>
          </p:nvSpPr>
          <p:spPr bwMode="auto">
            <a:xfrm>
              <a:off x="1320" y="1106"/>
              <a:ext cx="196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pt-PT" sz="1600" b="0">
                  <a:latin typeface="Arial" charset="0"/>
                </a:rPr>
                <a:t>Velocidade de simulação</a:t>
              </a:r>
              <a:endParaRPr lang="en-US" sz="1600" b="0">
                <a:latin typeface="Arial" charset="0"/>
              </a:endParaRPr>
            </a:p>
          </p:txBody>
        </p:sp>
        <p:sp>
          <p:nvSpPr>
            <p:cNvPr id="5265" name="Line 145"/>
            <p:cNvSpPr>
              <a:spLocks noChangeShapeType="1"/>
            </p:cNvSpPr>
            <p:nvPr/>
          </p:nvSpPr>
          <p:spPr bwMode="auto">
            <a:xfrm>
              <a:off x="340" y="391"/>
              <a:ext cx="590" cy="7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5268" name="Group 148"/>
          <p:cNvGrpSpPr>
            <a:grpSpLocks/>
          </p:cNvGrpSpPr>
          <p:nvPr/>
        </p:nvGrpSpPr>
        <p:grpSpPr bwMode="auto">
          <a:xfrm>
            <a:off x="539750" y="620713"/>
            <a:ext cx="4464050" cy="2151062"/>
            <a:chOff x="340" y="391"/>
            <a:chExt cx="2812" cy="1355"/>
          </a:xfrm>
        </p:grpSpPr>
        <p:sp>
          <p:nvSpPr>
            <p:cNvPr id="5227" name="Text Box 107"/>
            <p:cNvSpPr txBox="1">
              <a:spLocks noChangeArrowheads="1"/>
            </p:cNvSpPr>
            <p:nvPr/>
          </p:nvSpPr>
          <p:spPr bwMode="auto">
            <a:xfrm>
              <a:off x="1184" y="1534"/>
              <a:ext cx="196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pt-PT" sz="1600" b="0">
                  <a:latin typeface="Arial" charset="0"/>
                </a:rPr>
                <a:t>Pausar o simulador</a:t>
              </a:r>
              <a:endParaRPr lang="en-US" sz="1600" b="0">
                <a:latin typeface="Arial" charset="0"/>
              </a:endParaRPr>
            </a:p>
          </p:txBody>
        </p:sp>
        <p:sp>
          <p:nvSpPr>
            <p:cNvPr id="5267" name="Line 147"/>
            <p:cNvSpPr>
              <a:spLocks noChangeShapeType="1"/>
            </p:cNvSpPr>
            <p:nvPr/>
          </p:nvSpPr>
          <p:spPr bwMode="auto">
            <a:xfrm>
              <a:off x="340" y="391"/>
              <a:ext cx="181" cy="117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5270" name="Group 150"/>
          <p:cNvGrpSpPr>
            <a:grpSpLocks/>
          </p:cNvGrpSpPr>
          <p:nvPr/>
        </p:nvGrpSpPr>
        <p:grpSpPr bwMode="auto">
          <a:xfrm>
            <a:off x="468313" y="620713"/>
            <a:ext cx="3382962" cy="3024187"/>
            <a:chOff x="295" y="391"/>
            <a:chExt cx="2131" cy="1905"/>
          </a:xfrm>
        </p:grpSpPr>
        <p:sp>
          <p:nvSpPr>
            <p:cNvPr id="5261" name="Text Box 141"/>
            <p:cNvSpPr txBox="1">
              <a:spLocks noChangeArrowheads="1"/>
            </p:cNvSpPr>
            <p:nvPr/>
          </p:nvSpPr>
          <p:spPr bwMode="auto">
            <a:xfrm>
              <a:off x="1201" y="2084"/>
              <a:ext cx="122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pt-PT" sz="1600" b="0">
                  <a:latin typeface="Arial" charset="0"/>
                </a:rPr>
                <a:t>Parar o simulador</a:t>
              </a:r>
              <a:endParaRPr lang="en-US" sz="1600" b="0">
                <a:latin typeface="Arial" charset="0"/>
              </a:endParaRPr>
            </a:p>
          </p:txBody>
        </p:sp>
        <p:sp>
          <p:nvSpPr>
            <p:cNvPr id="5269" name="Line 149"/>
            <p:cNvSpPr>
              <a:spLocks noChangeShapeType="1"/>
            </p:cNvSpPr>
            <p:nvPr/>
          </p:nvSpPr>
          <p:spPr bwMode="auto">
            <a:xfrm flipH="1">
              <a:off x="295" y="391"/>
              <a:ext cx="45" cy="16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5272" name="Group 152"/>
          <p:cNvGrpSpPr>
            <a:grpSpLocks/>
          </p:cNvGrpSpPr>
          <p:nvPr/>
        </p:nvGrpSpPr>
        <p:grpSpPr bwMode="auto">
          <a:xfrm>
            <a:off x="539750" y="620713"/>
            <a:ext cx="3989388" cy="3960812"/>
            <a:chOff x="340" y="391"/>
            <a:chExt cx="2513" cy="2495"/>
          </a:xfrm>
        </p:grpSpPr>
        <p:sp>
          <p:nvSpPr>
            <p:cNvPr id="5228" name="Text Box 108"/>
            <p:cNvSpPr txBox="1">
              <a:spLocks noChangeArrowheads="1"/>
            </p:cNvSpPr>
            <p:nvPr/>
          </p:nvSpPr>
          <p:spPr bwMode="auto">
            <a:xfrm>
              <a:off x="1701" y="2366"/>
              <a:ext cx="1152" cy="5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pt-PT" sz="1600" b="0">
                  <a:latin typeface="Arial" charset="0"/>
                </a:rPr>
                <a:t>Simulação à velocidade máxima</a:t>
              </a:r>
              <a:endParaRPr lang="en-US" sz="1600" b="0">
                <a:latin typeface="Arial" charset="0"/>
              </a:endParaRPr>
            </a:p>
          </p:txBody>
        </p:sp>
        <p:sp>
          <p:nvSpPr>
            <p:cNvPr id="5271" name="Line 151"/>
            <p:cNvSpPr>
              <a:spLocks noChangeShapeType="1"/>
            </p:cNvSpPr>
            <p:nvPr/>
          </p:nvSpPr>
          <p:spPr bwMode="auto">
            <a:xfrm>
              <a:off x="340" y="391"/>
              <a:ext cx="907" cy="217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5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2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2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2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2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2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2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5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2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2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5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5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5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2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2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5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2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52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52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2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5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4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6" dur="500"/>
                                        <p:tgtEl>
                                          <p:spTgt spid="5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5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3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85" dur="500"/>
                                        <p:tgtEl>
                                          <p:spTgt spid="5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5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2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4" dur="500"/>
                                        <p:tgtEl>
                                          <p:spTgt spid="5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21" name="Object 77"/>
          <p:cNvGraphicFramePr>
            <a:graphicFrameLocks noChangeAspect="1"/>
          </p:cNvGraphicFramePr>
          <p:nvPr/>
        </p:nvGraphicFramePr>
        <p:xfrm>
          <a:off x="250825" y="3748088"/>
          <a:ext cx="2271713" cy="299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8" name="Bitmap Image" r:id="rId3" imgW="2905531" imgH="3828571" progId="Paint.Picture">
                  <p:embed/>
                </p:oleObj>
              </mc:Choice>
              <mc:Fallback>
                <p:oleObj name="Bitmap Image" r:id="rId3" imgW="2905531" imgH="3828571" progId="Paint.Picture">
                  <p:embed/>
                  <p:pic>
                    <p:nvPicPr>
                      <p:cNvPr id="0" name="Object 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3748088"/>
                        <a:ext cx="2271713" cy="299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20" name="Object 76"/>
          <p:cNvGraphicFramePr>
            <a:graphicFrameLocks noChangeAspect="1"/>
          </p:cNvGraphicFramePr>
          <p:nvPr/>
        </p:nvGraphicFramePr>
        <p:xfrm>
          <a:off x="4572000" y="4217988"/>
          <a:ext cx="2266950" cy="2524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9" name="Bitmap Image" r:id="rId5" imgW="2266667" imgH="2523810" progId="Paint.Picture">
                  <p:embed/>
                </p:oleObj>
              </mc:Choice>
              <mc:Fallback>
                <p:oleObj name="Bitmap Image" r:id="rId5" imgW="2266667" imgH="2523810" progId="Paint.Picture">
                  <p:embed/>
                  <p:pic>
                    <p:nvPicPr>
                      <p:cNvPr id="0" name="Object 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4217988"/>
                        <a:ext cx="2266950" cy="2524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19" name="Object 75"/>
          <p:cNvGraphicFramePr>
            <a:graphicFrameLocks noChangeAspect="1"/>
          </p:cNvGraphicFramePr>
          <p:nvPr/>
        </p:nvGraphicFramePr>
        <p:xfrm>
          <a:off x="331788" y="2905125"/>
          <a:ext cx="215265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0" name="Bitmap Image" r:id="rId7" imgW="2152951" imgH="523810" progId="Paint.Picture">
                  <p:embed/>
                </p:oleObj>
              </mc:Choice>
              <mc:Fallback>
                <p:oleObj name="Bitmap Image" r:id="rId7" imgW="2152951" imgH="523810" progId="Paint.Picture">
                  <p:embed/>
                  <p:pic>
                    <p:nvPicPr>
                      <p:cNvPr id="0" name="Object 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788" y="2905125"/>
                        <a:ext cx="2152650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18" name="Object 74"/>
          <p:cNvGraphicFramePr>
            <a:graphicFrameLocks noChangeAspect="1"/>
          </p:cNvGraphicFramePr>
          <p:nvPr/>
        </p:nvGraphicFramePr>
        <p:xfrm>
          <a:off x="468313" y="1138238"/>
          <a:ext cx="2343150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1" name="Bitmap Image" r:id="rId9" imgW="2343477" imgH="561905" progId="Paint.Picture">
                  <p:embed/>
                </p:oleObj>
              </mc:Choice>
              <mc:Fallback>
                <p:oleObj name="Bitmap Image" r:id="rId9" imgW="2343477" imgH="561905" progId="Paint.Picture">
                  <p:embed/>
                  <p:pic>
                    <p:nvPicPr>
                      <p:cNvPr id="0" name="Object 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1138238"/>
                        <a:ext cx="2343150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11" name="Object 67"/>
          <p:cNvGraphicFramePr>
            <a:graphicFrameLocks noChangeAspect="1"/>
          </p:cNvGraphicFramePr>
          <p:nvPr/>
        </p:nvGraphicFramePr>
        <p:xfrm>
          <a:off x="4643438" y="1984375"/>
          <a:ext cx="3816350" cy="224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2" name="Bitmap Image" r:id="rId11" imgW="3685714" imgH="2172003" progId="Paint.Picture">
                  <p:embed/>
                </p:oleObj>
              </mc:Choice>
              <mc:Fallback>
                <p:oleObj name="Bitmap Image" r:id="rId11" imgW="3685714" imgH="2172003" progId="Paint.Picture">
                  <p:embed/>
                  <p:pic>
                    <p:nvPicPr>
                      <p:cNvPr id="0" name="Object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1984375"/>
                        <a:ext cx="3816350" cy="224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205" name="Group 61"/>
          <p:cNvGrpSpPr>
            <a:grpSpLocks/>
          </p:cNvGrpSpPr>
          <p:nvPr/>
        </p:nvGrpSpPr>
        <p:grpSpPr bwMode="auto">
          <a:xfrm>
            <a:off x="381000" y="76200"/>
            <a:ext cx="3505200" cy="1066800"/>
            <a:chOff x="240" y="48"/>
            <a:chExt cx="2208" cy="672"/>
          </a:xfrm>
        </p:grpSpPr>
        <p:sp>
          <p:nvSpPr>
            <p:cNvPr id="6182" name="Text Box 38"/>
            <p:cNvSpPr txBox="1">
              <a:spLocks noChangeArrowheads="1"/>
            </p:cNvSpPr>
            <p:nvPr/>
          </p:nvSpPr>
          <p:spPr bwMode="auto">
            <a:xfrm>
              <a:off x="480" y="48"/>
              <a:ext cx="1968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pt-PT" sz="1600" b="0">
                  <a:latin typeface="Arial" charset="0"/>
                </a:rPr>
                <a:t>Para reinicializar o simulador carregue neste botão</a:t>
              </a:r>
              <a:endParaRPr lang="en-US" sz="1600" b="0">
                <a:latin typeface="Arial" charset="0"/>
              </a:endParaRPr>
            </a:p>
          </p:txBody>
        </p:sp>
        <p:sp>
          <p:nvSpPr>
            <p:cNvPr id="6184" name="Line 40"/>
            <p:cNvSpPr>
              <a:spLocks noChangeShapeType="1"/>
            </p:cNvSpPr>
            <p:nvPr/>
          </p:nvSpPr>
          <p:spPr bwMode="auto">
            <a:xfrm>
              <a:off x="384" y="288"/>
              <a:ext cx="72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83" name="Oval 39"/>
            <p:cNvSpPr>
              <a:spLocks noChangeArrowheads="1"/>
            </p:cNvSpPr>
            <p:nvPr/>
          </p:nvSpPr>
          <p:spPr bwMode="auto">
            <a:xfrm>
              <a:off x="240" y="96"/>
              <a:ext cx="288" cy="288"/>
            </a:xfrm>
            <a:prstGeom prst="ellipse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pt-PT" sz="2000" b="0">
                  <a:latin typeface="Arial" charset="0"/>
                </a:rPr>
                <a:t>27</a:t>
              </a:r>
              <a:endParaRPr lang="en-US" sz="2000" b="0">
                <a:latin typeface="Arial" charset="0"/>
              </a:endParaRPr>
            </a:p>
          </p:txBody>
        </p:sp>
      </p:grpSp>
      <p:grpSp>
        <p:nvGrpSpPr>
          <p:cNvPr id="6206" name="Group 62"/>
          <p:cNvGrpSpPr>
            <a:grpSpLocks/>
          </p:cNvGrpSpPr>
          <p:nvPr/>
        </p:nvGrpSpPr>
        <p:grpSpPr bwMode="auto">
          <a:xfrm>
            <a:off x="381000" y="1916113"/>
            <a:ext cx="3810000" cy="1038225"/>
            <a:chOff x="240" y="1296"/>
            <a:chExt cx="2400" cy="654"/>
          </a:xfrm>
        </p:grpSpPr>
        <p:sp>
          <p:nvSpPr>
            <p:cNvPr id="6185" name="Text Box 41"/>
            <p:cNvSpPr txBox="1">
              <a:spLocks noChangeArrowheads="1"/>
            </p:cNvSpPr>
            <p:nvPr/>
          </p:nvSpPr>
          <p:spPr bwMode="auto">
            <a:xfrm>
              <a:off x="384" y="1392"/>
              <a:ext cx="2256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pt-PT" sz="1600" b="0">
                  <a:latin typeface="Arial" charset="0"/>
                </a:rPr>
                <a:t>Para especificar parâmetros de simulação serve este botão</a:t>
              </a:r>
              <a:endParaRPr lang="en-US" sz="1600" b="0">
                <a:latin typeface="Arial" charset="0"/>
              </a:endParaRPr>
            </a:p>
          </p:txBody>
        </p:sp>
        <p:sp>
          <p:nvSpPr>
            <p:cNvPr id="6187" name="Line 43"/>
            <p:cNvSpPr>
              <a:spLocks noChangeShapeType="1"/>
            </p:cNvSpPr>
            <p:nvPr/>
          </p:nvSpPr>
          <p:spPr bwMode="auto">
            <a:xfrm>
              <a:off x="384" y="1566"/>
              <a:ext cx="384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86" name="Oval 42"/>
            <p:cNvSpPr>
              <a:spLocks noChangeArrowheads="1"/>
            </p:cNvSpPr>
            <p:nvPr/>
          </p:nvSpPr>
          <p:spPr bwMode="auto">
            <a:xfrm>
              <a:off x="240" y="1296"/>
              <a:ext cx="288" cy="288"/>
            </a:xfrm>
            <a:prstGeom prst="ellipse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pt-PT" sz="2000" b="0">
                  <a:latin typeface="Arial" charset="0"/>
                </a:rPr>
                <a:t>28</a:t>
              </a:r>
              <a:endParaRPr lang="en-US" sz="2000" b="0">
                <a:latin typeface="Arial" charset="0"/>
              </a:endParaRPr>
            </a:p>
          </p:txBody>
        </p:sp>
      </p:grpSp>
      <p:grpSp>
        <p:nvGrpSpPr>
          <p:cNvPr id="6212" name="Group 68"/>
          <p:cNvGrpSpPr>
            <a:grpSpLocks/>
          </p:cNvGrpSpPr>
          <p:nvPr/>
        </p:nvGrpSpPr>
        <p:grpSpPr bwMode="auto">
          <a:xfrm>
            <a:off x="4419600" y="76200"/>
            <a:ext cx="4495800" cy="3640138"/>
            <a:chOff x="2784" y="48"/>
            <a:chExt cx="2832" cy="2293"/>
          </a:xfrm>
        </p:grpSpPr>
        <p:sp>
          <p:nvSpPr>
            <p:cNvPr id="6189" name="Text Box 45"/>
            <p:cNvSpPr txBox="1">
              <a:spLocks noChangeArrowheads="1"/>
            </p:cNvSpPr>
            <p:nvPr/>
          </p:nvSpPr>
          <p:spPr bwMode="auto">
            <a:xfrm>
              <a:off x="3120" y="48"/>
              <a:ext cx="2496" cy="9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pt-PT" sz="1600" b="0" dirty="0">
                  <a:latin typeface="Arial" charset="0"/>
                </a:rPr>
                <a:t>Por exemplo, para especificar o atraso de propagação de uma porta lógica deve </a:t>
              </a:r>
              <a:r>
                <a:rPr lang="pt-PT" sz="1600" b="0" dirty="0" smtClean="0">
                  <a:latin typeface="Arial" charset="0"/>
                </a:rPr>
                <a:t>selecioná-la </a:t>
              </a:r>
              <a:r>
                <a:rPr lang="pt-PT" sz="1600" b="0" dirty="0">
                  <a:latin typeface="Arial" charset="0"/>
                </a:rPr>
                <a:t>e de seguida carregar no botão </a:t>
              </a:r>
              <a:r>
                <a:rPr lang="pt-PT" sz="1600" b="0" i="1" dirty="0">
                  <a:latin typeface="Arial" charset="0"/>
                </a:rPr>
                <a:t>Sumulation parameters</a:t>
              </a:r>
              <a:r>
                <a:rPr lang="pt-PT" sz="1600" b="0" dirty="0">
                  <a:latin typeface="Arial" charset="0"/>
                </a:rPr>
                <a:t>.  Como resultado aparecerá uma janela de diálogo na qual pode-se definir o atraso.</a:t>
              </a:r>
              <a:endParaRPr lang="en-US" sz="1600" b="0" dirty="0">
                <a:latin typeface="Arial" charset="0"/>
              </a:endParaRPr>
            </a:p>
          </p:txBody>
        </p:sp>
        <p:sp>
          <p:nvSpPr>
            <p:cNvPr id="6190" name="Oval 46"/>
            <p:cNvSpPr>
              <a:spLocks noChangeArrowheads="1"/>
            </p:cNvSpPr>
            <p:nvPr/>
          </p:nvSpPr>
          <p:spPr bwMode="auto">
            <a:xfrm>
              <a:off x="2784" y="432"/>
              <a:ext cx="288" cy="288"/>
            </a:xfrm>
            <a:prstGeom prst="ellipse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pt-PT" sz="2000" b="0">
                  <a:latin typeface="Arial" charset="0"/>
                </a:rPr>
                <a:t>29</a:t>
              </a:r>
              <a:endParaRPr lang="en-US" sz="2000" b="0">
                <a:latin typeface="Arial" charset="0"/>
              </a:endParaRPr>
            </a:p>
          </p:txBody>
        </p:sp>
        <p:sp>
          <p:nvSpPr>
            <p:cNvPr id="6193" name="Line 49"/>
            <p:cNvSpPr>
              <a:spLocks noChangeShapeType="1"/>
            </p:cNvSpPr>
            <p:nvPr/>
          </p:nvSpPr>
          <p:spPr bwMode="auto">
            <a:xfrm>
              <a:off x="2928" y="720"/>
              <a:ext cx="144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94" name="Line 50"/>
            <p:cNvSpPr>
              <a:spLocks noChangeShapeType="1"/>
            </p:cNvSpPr>
            <p:nvPr/>
          </p:nvSpPr>
          <p:spPr bwMode="auto">
            <a:xfrm>
              <a:off x="2928" y="720"/>
              <a:ext cx="768" cy="125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95" name="Line 51"/>
            <p:cNvSpPr>
              <a:spLocks noChangeShapeType="1"/>
            </p:cNvSpPr>
            <p:nvPr/>
          </p:nvSpPr>
          <p:spPr bwMode="auto">
            <a:xfrm>
              <a:off x="2976" y="720"/>
              <a:ext cx="1401" cy="16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6208" name="Group 64"/>
          <p:cNvGrpSpPr>
            <a:grpSpLocks/>
          </p:cNvGrpSpPr>
          <p:nvPr/>
        </p:nvGrpSpPr>
        <p:grpSpPr bwMode="auto">
          <a:xfrm>
            <a:off x="6629400" y="4365625"/>
            <a:ext cx="2514600" cy="2000250"/>
            <a:chOff x="4176" y="2880"/>
            <a:chExt cx="1584" cy="1260"/>
          </a:xfrm>
        </p:grpSpPr>
        <p:sp>
          <p:nvSpPr>
            <p:cNvPr id="6196" name="Oval 52"/>
            <p:cNvSpPr>
              <a:spLocks noChangeArrowheads="1"/>
            </p:cNvSpPr>
            <p:nvPr/>
          </p:nvSpPr>
          <p:spPr bwMode="auto">
            <a:xfrm>
              <a:off x="4896" y="2880"/>
              <a:ext cx="288" cy="288"/>
            </a:xfrm>
            <a:prstGeom prst="ellipse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pt-PT" sz="2000" b="0">
                  <a:latin typeface="Arial" charset="0"/>
                </a:rPr>
                <a:t>30</a:t>
              </a:r>
              <a:endParaRPr lang="en-US" sz="2000" b="0">
                <a:latin typeface="Arial" charset="0"/>
              </a:endParaRPr>
            </a:p>
          </p:txBody>
        </p:sp>
        <p:sp>
          <p:nvSpPr>
            <p:cNvPr id="6197" name="Line 53"/>
            <p:cNvSpPr>
              <a:spLocks noChangeShapeType="1"/>
            </p:cNvSpPr>
            <p:nvPr/>
          </p:nvSpPr>
          <p:spPr bwMode="auto">
            <a:xfrm flipH="1">
              <a:off x="4176" y="3024"/>
              <a:ext cx="72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99" name="Text Box 55"/>
            <p:cNvSpPr txBox="1">
              <a:spLocks noChangeArrowheads="1"/>
            </p:cNvSpPr>
            <p:nvPr/>
          </p:nvSpPr>
          <p:spPr bwMode="auto">
            <a:xfrm>
              <a:off x="4320" y="3312"/>
              <a:ext cx="1440" cy="8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pt-PT" sz="1600" b="0">
                  <a:latin typeface="Arial" charset="0"/>
                </a:rPr>
                <a:t>Alternativamente, pode carregar no símbolo com o botão direito do rato e usar a opção </a:t>
              </a:r>
              <a:r>
                <a:rPr lang="pt-PT" sz="1600" b="0" i="1">
                  <a:latin typeface="Arial" charset="0"/>
                </a:rPr>
                <a:t>Attributes...</a:t>
              </a:r>
              <a:r>
                <a:rPr lang="pt-PT" sz="1600" b="0">
                  <a:latin typeface="Arial" charset="0"/>
                </a:rPr>
                <a:t> do menu</a:t>
              </a:r>
              <a:endParaRPr lang="en-US" sz="1600" b="0">
                <a:latin typeface="Arial" charset="0"/>
              </a:endParaRPr>
            </a:p>
          </p:txBody>
        </p:sp>
      </p:grpSp>
      <p:grpSp>
        <p:nvGrpSpPr>
          <p:cNvPr id="6222" name="Group 78"/>
          <p:cNvGrpSpPr>
            <a:grpSpLocks/>
          </p:cNvGrpSpPr>
          <p:nvPr/>
        </p:nvGrpSpPr>
        <p:grpSpPr bwMode="auto">
          <a:xfrm>
            <a:off x="539750" y="3500438"/>
            <a:ext cx="4068763" cy="2592387"/>
            <a:chOff x="340" y="2205"/>
            <a:chExt cx="2563" cy="1633"/>
          </a:xfrm>
        </p:grpSpPr>
        <p:sp>
          <p:nvSpPr>
            <p:cNvPr id="6203" name="Text Box 59"/>
            <p:cNvSpPr txBox="1">
              <a:spLocks noChangeArrowheads="1"/>
            </p:cNvSpPr>
            <p:nvPr/>
          </p:nvSpPr>
          <p:spPr bwMode="auto">
            <a:xfrm>
              <a:off x="1655" y="2829"/>
              <a:ext cx="1248" cy="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pt-PT" sz="1600" b="0" dirty="0">
                  <a:latin typeface="Arial" charset="0"/>
                </a:rPr>
                <a:t>Por </a:t>
              </a:r>
              <a:r>
                <a:rPr lang="pt-PT" sz="1600" b="0" dirty="0" smtClean="0">
                  <a:latin typeface="Arial" charset="0"/>
                </a:rPr>
                <a:t>omissão, </a:t>
              </a:r>
              <a:r>
                <a:rPr lang="pt-PT" sz="1600" b="0" dirty="0">
                  <a:latin typeface="Arial" charset="0"/>
                </a:rPr>
                <a:t>o   atraso de um dispositivo primitivo é 1 ns. Aqui especificámos o atraso de 4 ns. </a:t>
              </a:r>
              <a:endParaRPr lang="en-US" sz="1600" b="0" dirty="0">
                <a:latin typeface="Arial" charset="0"/>
              </a:endParaRPr>
            </a:p>
          </p:txBody>
        </p:sp>
        <p:grpSp>
          <p:nvGrpSpPr>
            <p:cNvPr id="6215" name="Group 71"/>
            <p:cNvGrpSpPr>
              <a:grpSpLocks/>
            </p:cNvGrpSpPr>
            <p:nvPr/>
          </p:nvGrpSpPr>
          <p:grpSpPr bwMode="auto">
            <a:xfrm>
              <a:off x="340" y="2205"/>
              <a:ext cx="2019" cy="1633"/>
              <a:chOff x="295" y="2205"/>
              <a:chExt cx="2064" cy="1728"/>
            </a:xfrm>
          </p:grpSpPr>
          <p:sp>
            <p:nvSpPr>
              <p:cNvPr id="6202" name="Line 58"/>
              <p:cNvSpPr>
                <a:spLocks noChangeShapeType="1"/>
              </p:cNvSpPr>
              <p:nvPr/>
            </p:nvSpPr>
            <p:spPr bwMode="auto">
              <a:xfrm flipH="1">
                <a:off x="295" y="2397"/>
                <a:ext cx="1824" cy="15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200" name="Oval 56"/>
              <p:cNvSpPr>
                <a:spLocks noChangeArrowheads="1"/>
              </p:cNvSpPr>
              <p:nvPr/>
            </p:nvSpPr>
            <p:spPr bwMode="auto">
              <a:xfrm>
                <a:off x="2071" y="2205"/>
                <a:ext cx="288" cy="288"/>
              </a:xfrm>
              <a:prstGeom prst="ellipse">
                <a:avLst/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pt-PT" sz="2000" b="0">
                    <a:latin typeface="Arial" charset="0"/>
                  </a:rPr>
                  <a:t>31</a:t>
                </a:r>
                <a:endParaRPr lang="en-US" sz="2000" b="0">
                  <a:latin typeface="Arial" charset="0"/>
                </a:endParaRPr>
              </a:p>
            </p:txBody>
          </p:sp>
          <p:sp>
            <p:nvSpPr>
              <p:cNvPr id="6214" name="Line 70"/>
              <p:cNvSpPr>
                <a:spLocks noChangeShapeType="1"/>
              </p:cNvSpPr>
              <p:nvPr/>
            </p:nvSpPr>
            <p:spPr bwMode="auto">
              <a:xfrm flipH="1">
                <a:off x="657" y="2421"/>
                <a:ext cx="1428" cy="19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6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6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0" dur="500"/>
                                        <p:tgtEl>
                                          <p:spTgt spid="6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6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9" dur="500"/>
                                        <p:tgtEl>
                                          <p:spTgt spid="6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6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8" dur="500"/>
                                        <p:tgtEl>
                                          <p:spTgt spid="6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6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7" dur="500"/>
                                        <p:tgtEl>
                                          <p:spTgt spid="6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780" name="Object 36"/>
          <p:cNvGraphicFramePr>
            <a:graphicFrameLocks noChangeAspect="1"/>
          </p:cNvGraphicFramePr>
          <p:nvPr/>
        </p:nvGraphicFramePr>
        <p:xfrm>
          <a:off x="4427538" y="1341438"/>
          <a:ext cx="4467225" cy="301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09" name="Bitmap Image" r:id="rId3" imgW="4466667" imgH="3019048" progId="Paint.Picture">
                  <p:embed/>
                </p:oleObj>
              </mc:Choice>
              <mc:Fallback>
                <p:oleObj name="Bitmap Image" r:id="rId3" imgW="4466667" imgH="3019048" progId="Paint.Picture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538" y="1341438"/>
                        <a:ext cx="4467225" cy="301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79" name="Object 35"/>
          <p:cNvGraphicFramePr>
            <a:graphicFrameLocks noChangeAspect="1"/>
          </p:cNvGraphicFramePr>
          <p:nvPr/>
        </p:nvGraphicFramePr>
        <p:xfrm>
          <a:off x="687388" y="1373188"/>
          <a:ext cx="1076325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10" name="Bitmap Image" r:id="rId5" imgW="1076475" imgH="542857" progId="Paint.Picture">
                  <p:embed/>
                </p:oleObj>
              </mc:Choice>
              <mc:Fallback>
                <p:oleObj name="Bitmap Image" r:id="rId5" imgW="1076475" imgH="542857" progId="Paint.Picture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388" y="1373188"/>
                        <a:ext cx="1076325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76" name="Object 32"/>
          <p:cNvGraphicFramePr>
            <a:graphicFrameLocks noChangeAspect="1"/>
          </p:cNvGraphicFramePr>
          <p:nvPr/>
        </p:nvGraphicFramePr>
        <p:xfrm>
          <a:off x="323850" y="4302125"/>
          <a:ext cx="4562475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11" name="Bitmap Image" r:id="rId7" imgW="4563112" imgH="1142857" progId="Paint.Picture">
                  <p:embed/>
                </p:oleObj>
              </mc:Choice>
              <mc:Fallback>
                <p:oleObj name="Bitmap Image" r:id="rId7" imgW="4563112" imgH="1142857" progId="Paint.Picture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4302125"/>
                        <a:ext cx="4562475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768" name="Group 24"/>
          <p:cNvGrpSpPr>
            <a:grpSpLocks/>
          </p:cNvGrpSpPr>
          <p:nvPr/>
        </p:nvGrpSpPr>
        <p:grpSpPr bwMode="auto">
          <a:xfrm>
            <a:off x="381000" y="152400"/>
            <a:ext cx="3886200" cy="1295400"/>
            <a:chOff x="240" y="96"/>
            <a:chExt cx="2448" cy="816"/>
          </a:xfrm>
        </p:grpSpPr>
        <p:sp>
          <p:nvSpPr>
            <p:cNvPr id="31751" name="Text Box 7"/>
            <p:cNvSpPr txBox="1">
              <a:spLocks noChangeArrowheads="1"/>
            </p:cNvSpPr>
            <p:nvPr/>
          </p:nvSpPr>
          <p:spPr bwMode="auto">
            <a:xfrm>
              <a:off x="720" y="96"/>
              <a:ext cx="1968" cy="5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pt-PT" sz="1600" b="0" dirty="0">
                  <a:latin typeface="Arial" charset="0"/>
                </a:rPr>
                <a:t>Este botão serve para </a:t>
              </a:r>
              <a:r>
                <a:rPr lang="pt-PT" sz="1600" b="0" dirty="0" smtClean="0">
                  <a:latin typeface="Arial" charset="0"/>
                </a:rPr>
                <a:t>detetar </a:t>
              </a:r>
              <a:r>
                <a:rPr lang="pt-PT" sz="1600" b="0" dirty="0">
                  <a:latin typeface="Arial" charset="0"/>
                </a:rPr>
                <a:t>automaticamente uma situação específica durante a simulação</a:t>
              </a:r>
              <a:endParaRPr lang="en-US" sz="1600" b="0" dirty="0">
                <a:latin typeface="Arial" charset="0"/>
              </a:endParaRPr>
            </a:p>
          </p:txBody>
        </p:sp>
        <p:sp>
          <p:nvSpPr>
            <p:cNvPr id="31752" name="Line 8"/>
            <p:cNvSpPr>
              <a:spLocks noChangeShapeType="1"/>
            </p:cNvSpPr>
            <p:nvPr/>
          </p:nvSpPr>
          <p:spPr bwMode="auto">
            <a:xfrm>
              <a:off x="384" y="336"/>
              <a:ext cx="432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753" name="Oval 9"/>
            <p:cNvSpPr>
              <a:spLocks noChangeArrowheads="1"/>
            </p:cNvSpPr>
            <p:nvPr/>
          </p:nvSpPr>
          <p:spPr bwMode="auto">
            <a:xfrm>
              <a:off x="240" y="144"/>
              <a:ext cx="288" cy="288"/>
            </a:xfrm>
            <a:prstGeom prst="ellipse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pt-PT" sz="2000" b="0">
                  <a:latin typeface="Arial" charset="0"/>
                </a:rPr>
                <a:t>32</a:t>
              </a:r>
              <a:endParaRPr lang="en-US" sz="2000" b="0">
                <a:latin typeface="Arial" charset="0"/>
              </a:endParaRPr>
            </a:p>
          </p:txBody>
        </p:sp>
      </p:grpSp>
      <p:grpSp>
        <p:nvGrpSpPr>
          <p:cNvPr id="31769" name="Group 25"/>
          <p:cNvGrpSpPr>
            <a:grpSpLocks/>
          </p:cNvGrpSpPr>
          <p:nvPr/>
        </p:nvGrpSpPr>
        <p:grpSpPr bwMode="auto">
          <a:xfrm>
            <a:off x="381000" y="2862263"/>
            <a:ext cx="3733800" cy="1143000"/>
            <a:chOff x="240" y="1632"/>
            <a:chExt cx="2352" cy="720"/>
          </a:xfrm>
        </p:grpSpPr>
        <p:sp>
          <p:nvSpPr>
            <p:cNvPr id="31761" name="Text Box 17"/>
            <p:cNvSpPr txBox="1">
              <a:spLocks noChangeArrowheads="1"/>
            </p:cNvSpPr>
            <p:nvPr/>
          </p:nvSpPr>
          <p:spPr bwMode="auto">
            <a:xfrm>
              <a:off x="624" y="1632"/>
              <a:ext cx="1968" cy="6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pt-PT" sz="1600" b="0">
                  <a:latin typeface="Arial" charset="0"/>
                </a:rPr>
                <a:t>O simulador vai parar automaticamente e emitir um sinal sonoro quando atingir a situação especificada</a:t>
              </a:r>
              <a:endParaRPr lang="en-US" sz="1600" b="0">
                <a:latin typeface="Arial" charset="0"/>
              </a:endParaRPr>
            </a:p>
          </p:txBody>
        </p:sp>
        <p:sp>
          <p:nvSpPr>
            <p:cNvPr id="31763" name="Line 19"/>
            <p:cNvSpPr>
              <a:spLocks noChangeShapeType="1"/>
            </p:cNvSpPr>
            <p:nvPr/>
          </p:nvSpPr>
          <p:spPr bwMode="auto">
            <a:xfrm>
              <a:off x="480" y="1968"/>
              <a:ext cx="384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762" name="Oval 18"/>
            <p:cNvSpPr>
              <a:spLocks noChangeArrowheads="1"/>
            </p:cNvSpPr>
            <p:nvPr/>
          </p:nvSpPr>
          <p:spPr bwMode="auto">
            <a:xfrm>
              <a:off x="240" y="1728"/>
              <a:ext cx="288" cy="288"/>
            </a:xfrm>
            <a:prstGeom prst="ellipse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pt-PT" sz="2000" b="0">
                  <a:latin typeface="Arial" charset="0"/>
                </a:rPr>
                <a:t>34</a:t>
              </a:r>
              <a:endParaRPr lang="en-US" sz="2000" b="0">
                <a:latin typeface="Arial" charset="0"/>
              </a:endParaRPr>
            </a:p>
          </p:txBody>
        </p:sp>
      </p:grpSp>
      <p:grpSp>
        <p:nvGrpSpPr>
          <p:cNvPr id="31778" name="Group 34"/>
          <p:cNvGrpSpPr>
            <a:grpSpLocks/>
          </p:cNvGrpSpPr>
          <p:nvPr/>
        </p:nvGrpSpPr>
        <p:grpSpPr bwMode="auto">
          <a:xfrm>
            <a:off x="990600" y="5516563"/>
            <a:ext cx="4876800" cy="960437"/>
            <a:chOff x="624" y="3475"/>
            <a:chExt cx="3072" cy="605"/>
          </a:xfrm>
        </p:grpSpPr>
        <p:sp>
          <p:nvSpPr>
            <p:cNvPr id="31765" name="Oval 21"/>
            <p:cNvSpPr>
              <a:spLocks noChangeArrowheads="1"/>
            </p:cNvSpPr>
            <p:nvPr/>
          </p:nvSpPr>
          <p:spPr bwMode="auto">
            <a:xfrm>
              <a:off x="2736" y="3696"/>
              <a:ext cx="288" cy="288"/>
            </a:xfrm>
            <a:prstGeom prst="ellipse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pt-PT" sz="2000" b="0">
                  <a:latin typeface="Arial" charset="0"/>
                </a:rPr>
                <a:t>35</a:t>
              </a:r>
              <a:endParaRPr lang="en-US" sz="2000" b="0">
                <a:latin typeface="Arial" charset="0"/>
              </a:endParaRPr>
            </a:p>
          </p:txBody>
        </p:sp>
        <p:sp>
          <p:nvSpPr>
            <p:cNvPr id="31766" name="Text Box 22"/>
            <p:cNvSpPr txBox="1">
              <a:spLocks noChangeArrowheads="1"/>
            </p:cNvSpPr>
            <p:nvPr/>
          </p:nvSpPr>
          <p:spPr bwMode="auto">
            <a:xfrm>
              <a:off x="624" y="3714"/>
              <a:ext cx="1968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pt-PT" sz="1600" b="0">
                  <a:latin typeface="Arial" charset="0"/>
                </a:rPr>
                <a:t>Utilize a opção </a:t>
              </a:r>
              <a:r>
                <a:rPr lang="pt-PT" sz="1600" b="0" i="1">
                  <a:latin typeface="Arial" charset="0"/>
                </a:rPr>
                <a:t>Save Design </a:t>
              </a:r>
              <a:r>
                <a:rPr lang="pt-PT" sz="1600" b="0">
                  <a:latin typeface="Arial" charset="0"/>
                </a:rPr>
                <a:t>do menu </a:t>
              </a:r>
              <a:r>
                <a:rPr lang="pt-PT" sz="1600" b="0" i="1">
                  <a:latin typeface="Arial" charset="0"/>
                </a:rPr>
                <a:t>File </a:t>
              </a:r>
              <a:r>
                <a:rPr lang="pt-PT" sz="1600" b="0">
                  <a:latin typeface="Arial" charset="0"/>
                </a:rPr>
                <a:t>para gravar o circuito</a:t>
              </a:r>
              <a:endParaRPr lang="en-US" sz="1600" b="0">
                <a:latin typeface="Arial" charset="0"/>
              </a:endParaRPr>
            </a:p>
          </p:txBody>
        </p:sp>
        <p:sp>
          <p:nvSpPr>
            <p:cNvPr id="31767" name="Line 23"/>
            <p:cNvSpPr>
              <a:spLocks noChangeShapeType="1"/>
            </p:cNvSpPr>
            <p:nvPr/>
          </p:nvSpPr>
          <p:spPr bwMode="auto">
            <a:xfrm flipV="1">
              <a:off x="3024" y="3475"/>
              <a:ext cx="672" cy="36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31772" name="Group 28"/>
          <p:cNvGrpSpPr>
            <a:grpSpLocks/>
          </p:cNvGrpSpPr>
          <p:nvPr/>
        </p:nvGrpSpPr>
        <p:grpSpPr bwMode="auto">
          <a:xfrm>
            <a:off x="4953000" y="228600"/>
            <a:ext cx="4191000" cy="1471613"/>
            <a:chOff x="3120" y="144"/>
            <a:chExt cx="2544" cy="912"/>
          </a:xfrm>
        </p:grpSpPr>
        <p:sp>
          <p:nvSpPr>
            <p:cNvPr id="31754" name="Text Box 10"/>
            <p:cNvSpPr txBox="1">
              <a:spLocks noChangeArrowheads="1"/>
            </p:cNvSpPr>
            <p:nvPr/>
          </p:nvSpPr>
          <p:spPr bwMode="auto">
            <a:xfrm>
              <a:off x="3408" y="144"/>
              <a:ext cx="2256" cy="6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pt-PT" sz="1600" b="0">
                  <a:latin typeface="Arial" charset="0"/>
                </a:rPr>
                <a:t>Por exemplo, podemos simular o comportamento do circuito até ao momento em que o sinal </a:t>
              </a:r>
              <a:r>
                <a:rPr lang="pt-PT" sz="1600">
                  <a:latin typeface="Arial" charset="0"/>
                </a:rPr>
                <a:t>s </a:t>
              </a:r>
              <a:r>
                <a:rPr lang="pt-PT" sz="1600" b="0">
                  <a:latin typeface="Arial" charset="0"/>
                </a:rPr>
                <a:t>receba o valor </a:t>
              </a:r>
              <a:r>
                <a:rPr lang="pt-PT" sz="1600">
                  <a:latin typeface="Arial" charset="0"/>
                </a:rPr>
                <a:t>1</a:t>
              </a:r>
              <a:r>
                <a:rPr lang="pt-PT" sz="1600" b="0">
                  <a:latin typeface="Arial" charset="0"/>
                </a:rPr>
                <a:t> mas não menos do que 40 ns</a:t>
              </a:r>
              <a:endParaRPr lang="en-US" sz="1600" b="0">
                <a:latin typeface="Arial" charset="0"/>
              </a:endParaRPr>
            </a:p>
          </p:txBody>
        </p:sp>
        <p:sp>
          <p:nvSpPr>
            <p:cNvPr id="31759" name="Oval 15"/>
            <p:cNvSpPr>
              <a:spLocks noChangeArrowheads="1"/>
            </p:cNvSpPr>
            <p:nvPr/>
          </p:nvSpPr>
          <p:spPr bwMode="auto">
            <a:xfrm>
              <a:off x="3120" y="240"/>
              <a:ext cx="288" cy="288"/>
            </a:xfrm>
            <a:prstGeom prst="ellipse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pt-PT" sz="2000" b="0">
                  <a:latin typeface="Arial" charset="0"/>
                </a:rPr>
                <a:t>33</a:t>
              </a:r>
              <a:endParaRPr lang="en-US" sz="2000" b="0">
                <a:latin typeface="Arial" charset="0"/>
              </a:endParaRPr>
            </a:p>
          </p:txBody>
        </p:sp>
        <p:sp>
          <p:nvSpPr>
            <p:cNvPr id="31771" name="Line 27"/>
            <p:cNvSpPr>
              <a:spLocks noChangeShapeType="1"/>
            </p:cNvSpPr>
            <p:nvPr/>
          </p:nvSpPr>
          <p:spPr bwMode="auto">
            <a:xfrm>
              <a:off x="3264" y="528"/>
              <a:ext cx="24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aphicFrame>
        <p:nvGraphicFramePr>
          <p:cNvPr id="31777" name="Object 33"/>
          <p:cNvGraphicFramePr>
            <a:graphicFrameLocks noChangeAspect="1"/>
          </p:cNvGraphicFramePr>
          <p:nvPr/>
        </p:nvGraphicFramePr>
        <p:xfrm>
          <a:off x="5867400" y="4729163"/>
          <a:ext cx="2305050" cy="172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12" name="Bitmap Image" r:id="rId9" imgW="2305372" imgH="1724266" progId="Paint.Picture">
                  <p:embed/>
                </p:oleObj>
              </mc:Choice>
              <mc:Fallback>
                <p:oleObj name="Bitmap Image" r:id="rId9" imgW="2305372" imgH="1724266" progId="Paint.Picture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4729163"/>
                        <a:ext cx="2305050" cy="172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" dur="500"/>
                                        <p:tgtEl>
                                          <p:spTgt spid="31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1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0" dur="500"/>
                                        <p:tgtEl>
                                          <p:spTgt spid="31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1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9" dur="500"/>
                                        <p:tgtEl>
                                          <p:spTgt spid="31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1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8" dur="500"/>
                                        <p:tgtEl>
                                          <p:spTgt spid="31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828" name="Object 60"/>
          <p:cNvGraphicFramePr>
            <a:graphicFrameLocks noChangeAspect="1"/>
          </p:cNvGraphicFramePr>
          <p:nvPr/>
        </p:nvGraphicFramePr>
        <p:xfrm>
          <a:off x="2916238" y="2868613"/>
          <a:ext cx="2520950" cy="3297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72" name="Bitmap Image" r:id="rId3" imgW="2905531" imgH="3801006" progId="Paint.Picture">
                  <p:embed/>
                </p:oleObj>
              </mc:Choice>
              <mc:Fallback>
                <p:oleObj name="Bitmap Image" r:id="rId3" imgW="2905531" imgH="3801006" progId="Paint.Picture">
                  <p:embed/>
                  <p:pic>
                    <p:nvPicPr>
                      <p:cNvPr id="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2868613"/>
                        <a:ext cx="2520950" cy="3297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27" name="Object 59"/>
          <p:cNvGraphicFramePr>
            <a:graphicFrameLocks noChangeAspect="1"/>
          </p:cNvGraphicFramePr>
          <p:nvPr/>
        </p:nvGraphicFramePr>
        <p:xfrm>
          <a:off x="36513" y="4144963"/>
          <a:ext cx="2495550" cy="2524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73" name="Bitmap Image" r:id="rId5" imgW="2495238" imgH="2523810" progId="Paint.Picture">
                  <p:embed/>
                </p:oleObj>
              </mc:Choice>
              <mc:Fallback>
                <p:oleObj name="Bitmap Image" r:id="rId5" imgW="2495238" imgH="2523810" progId="Paint.Picture">
                  <p:embed/>
                  <p:pic>
                    <p:nvPicPr>
                      <p:cNvPr id="0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13" y="4144963"/>
                        <a:ext cx="2495550" cy="2524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0" name="Text Box 2"/>
          <p:cNvSpPr txBox="1">
            <a:spLocks noChangeArrowheads="1"/>
          </p:cNvSpPr>
          <p:nvPr/>
        </p:nvSpPr>
        <p:spPr bwMode="auto">
          <a:xfrm>
            <a:off x="212725" y="163513"/>
            <a:ext cx="65468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pt-PT" sz="2000">
                <a:solidFill>
                  <a:srgbClr val="FF3300"/>
                </a:solidFill>
                <a:latin typeface="Arial" charset="0"/>
              </a:rPr>
              <a:t>Exemplo</a:t>
            </a:r>
            <a:r>
              <a:rPr lang="en-US" sz="2000">
                <a:solidFill>
                  <a:srgbClr val="FF3300"/>
                </a:solidFill>
                <a:latin typeface="Arial" charset="0"/>
              </a:rPr>
              <a:t> 2</a:t>
            </a:r>
            <a:r>
              <a:rPr lang="en-US" sz="2000" b="0">
                <a:latin typeface="Arial" charset="0"/>
              </a:rPr>
              <a:t>. </a:t>
            </a:r>
            <a:r>
              <a:rPr lang="pt-PT" sz="2000" b="0">
                <a:latin typeface="Arial" charset="0"/>
              </a:rPr>
              <a:t>Experimentação com portas lógicas simples</a:t>
            </a:r>
            <a:endParaRPr lang="en-US" sz="2000" b="0">
              <a:latin typeface="Arial" charset="0"/>
            </a:endParaRPr>
          </a:p>
        </p:txBody>
      </p:sp>
      <p:graphicFrame>
        <p:nvGraphicFramePr>
          <p:cNvPr id="32803" name="Object 35"/>
          <p:cNvGraphicFramePr>
            <a:graphicFrameLocks noChangeAspect="1"/>
          </p:cNvGraphicFramePr>
          <p:nvPr/>
        </p:nvGraphicFramePr>
        <p:xfrm>
          <a:off x="381000" y="1676400"/>
          <a:ext cx="1371600" cy="194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74" name="Bitmap Image" r:id="rId7" imgW="1371429" imgH="1943371" progId="Paint.Picture">
                  <p:embed/>
                </p:oleObj>
              </mc:Choice>
              <mc:Fallback>
                <p:oleObj name="Bitmap Image" r:id="rId7" imgW="1371429" imgH="1943371" progId="Paint.Picture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676400"/>
                        <a:ext cx="1371600" cy="194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05" name="Object 37"/>
          <p:cNvGraphicFramePr>
            <a:graphicFrameLocks noChangeAspect="1"/>
          </p:cNvGraphicFramePr>
          <p:nvPr/>
        </p:nvGraphicFramePr>
        <p:xfrm>
          <a:off x="4953000" y="1828800"/>
          <a:ext cx="3590925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75" name="Bitmap Image" r:id="rId9" imgW="3591426" imgH="1000000" progId="Paint.Picture">
                  <p:embed/>
                </p:oleObj>
              </mc:Choice>
              <mc:Fallback>
                <p:oleObj name="Bitmap Image" r:id="rId9" imgW="3591426" imgH="1000000" progId="Paint.Picture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1828800"/>
                        <a:ext cx="3590925" cy="100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2822" name="Group 54"/>
          <p:cNvGrpSpPr>
            <a:grpSpLocks/>
          </p:cNvGrpSpPr>
          <p:nvPr/>
        </p:nvGrpSpPr>
        <p:grpSpPr bwMode="auto">
          <a:xfrm>
            <a:off x="838200" y="838200"/>
            <a:ext cx="3429000" cy="2286000"/>
            <a:chOff x="528" y="528"/>
            <a:chExt cx="2160" cy="1440"/>
          </a:xfrm>
        </p:grpSpPr>
        <p:sp>
          <p:nvSpPr>
            <p:cNvPr id="32775" name="Text Box 7"/>
            <p:cNvSpPr txBox="1">
              <a:spLocks noChangeArrowheads="1"/>
            </p:cNvSpPr>
            <p:nvPr/>
          </p:nvSpPr>
          <p:spPr bwMode="auto">
            <a:xfrm>
              <a:off x="1200" y="528"/>
              <a:ext cx="1488" cy="5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pt-PT" sz="1600" b="0" dirty="0" smtClean="0">
                  <a:latin typeface="Arial" charset="0"/>
                </a:rPr>
                <a:t>Selecione </a:t>
              </a:r>
              <a:r>
                <a:rPr lang="pt-PT" sz="1600" b="0" dirty="0">
                  <a:latin typeface="Arial" charset="0"/>
                </a:rPr>
                <a:t>componente </a:t>
              </a:r>
              <a:r>
                <a:rPr lang="pt-PT" sz="1600" b="0" i="1" dirty="0">
                  <a:latin typeface="Arial" charset="0"/>
                </a:rPr>
                <a:t>Clock </a:t>
              </a:r>
              <a:r>
                <a:rPr lang="pt-PT" sz="1600" b="0" dirty="0">
                  <a:latin typeface="Arial" charset="0"/>
                </a:rPr>
                <a:t>na biblioteca </a:t>
              </a:r>
              <a:r>
                <a:rPr lang="pt-PT" sz="1600" b="0" i="1" dirty="0">
                  <a:latin typeface="Arial" charset="0"/>
                </a:rPr>
                <a:t>SimulationIO</a:t>
              </a:r>
              <a:endParaRPr lang="en-US" sz="1600" b="0" dirty="0">
                <a:latin typeface="Arial" charset="0"/>
              </a:endParaRPr>
            </a:p>
          </p:txBody>
        </p:sp>
        <p:sp>
          <p:nvSpPr>
            <p:cNvPr id="32777" name="Oval 9"/>
            <p:cNvSpPr>
              <a:spLocks noChangeArrowheads="1"/>
            </p:cNvSpPr>
            <p:nvPr/>
          </p:nvSpPr>
          <p:spPr bwMode="auto">
            <a:xfrm>
              <a:off x="816" y="528"/>
              <a:ext cx="288" cy="288"/>
            </a:xfrm>
            <a:prstGeom prst="ellipse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pt-PT" sz="2000" b="0">
                  <a:latin typeface="Arial" charset="0"/>
                </a:rPr>
                <a:t>1</a:t>
              </a:r>
              <a:endParaRPr lang="en-US" sz="2000" b="0">
                <a:latin typeface="Arial" charset="0"/>
              </a:endParaRPr>
            </a:p>
          </p:txBody>
        </p:sp>
        <p:sp>
          <p:nvSpPr>
            <p:cNvPr id="32778" name="Line 10"/>
            <p:cNvSpPr>
              <a:spLocks noChangeShapeType="1"/>
            </p:cNvSpPr>
            <p:nvPr/>
          </p:nvSpPr>
          <p:spPr bwMode="auto">
            <a:xfrm flipH="1">
              <a:off x="528" y="816"/>
              <a:ext cx="384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04" name="Line 36"/>
            <p:cNvSpPr>
              <a:spLocks noChangeShapeType="1"/>
            </p:cNvSpPr>
            <p:nvPr/>
          </p:nvSpPr>
          <p:spPr bwMode="auto">
            <a:xfrm flipH="1">
              <a:off x="912" y="816"/>
              <a:ext cx="48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graphicFrame>
          <p:nvGraphicFramePr>
            <p:cNvPr id="32806" name="Object 38"/>
            <p:cNvGraphicFramePr>
              <a:graphicFrameLocks noChangeAspect="1"/>
            </p:cNvGraphicFramePr>
            <p:nvPr/>
          </p:nvGraphicFramePr>
          <p:xfrm>
            <a:off x="1680" y="1344"/>
            <a:ext cx="426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76" name="Bitmap Image" r:id="rId11" imgW="676369" imgH="447856" progId="Paint.Picture">
                    <p:embed/>
                  </p:oleObj>
                </mc:Choice>
                <mc:Fallback>
                  <p:oleObj name="Bitmap Image" r:id="rId11" imgW="676369" imgH="447856" progId="Paint.Picture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80" y="1344"/>
                          <a:ext cx="426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807" name="Line 39"/>
            <p:cNvSpPr>
              <a:spLocks noChangeShapeType="1"/>
            </p:cNvSpPr>
            <p:nvPr/>
          </p:nvSpPr>
          <p:spPr bwMode="auto">
            <a:xfrm>
              <a:off x="1008" y="816"/>
              <a:ext cx="672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32823" name="Group 55"/>
          <p:cNvGrpSpPr>
            <a:grpSpLocks/>
          </p:cNvGrpSpPr>
          <p:nvPr/>
        </p:nvGrpSpPr>
        <p:grpSpPr bwMode="auto">
          <a:xfrm>
            <a:off x="4648200" y="838200"/>
            <a:ext cx="4343400" cy="1219200"/>
            <a:chOff x="2928" y="528"/>
            <a:chExt cx="2736" cy="768"/>
          </a:xfrm>
        </p:grpSpPr>
        <p:sp>
          <p:nvSpPr>
            <p:cNvPr id="32784" name="Oval 16"/>
            <p:cNvSpPr>
              <a:spLocks noChangeArrowheads="1"/>
            </p:cNvSpPr>
            <p:nvPr/>
          </p:nvSpPr>
          <p:spPr bwMode="auto">
            <a:xfrm>
              <a:off x="2928" y="528"/>
              <a:ext cx="288" cy="288"/>
            </a:xfrm>
            <a:prstGeom prst="ellipse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pt-PT" sz="2000" b="0">
                  <a:latin typeface="Arial" charset="0"/>
                </a:rPr>
                <a:t>2</a:t>
              </a:r>
              <a:endParaRPr lang="en-US" sz="2000" b="0">
                <a:latin typeface="Arial" charset="0"/>
              </a:endParaRPr>
            </a:p>
          </p:txBody>
        </p:sp>
        <p:sp>
          <p:nvSpPr>
            <p:cNvPr id="32786" name="Text Box 18"/>
            <p:cNvSpPr txBox="1">
              <a:spLocks noChangeArrowheads="1"/>
            </p:cNvSpPr>
            <p:nvPr/>
          </p:nvSpPr>
          <p:spPr bwMode="auto">
            <a:xfrm>
              <a:off x="3456" y="528"/>
              <a:ext cx="2208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pt-PT" sz="1600" b="0">
                  <a:latin typeface="Arial" charset="0"/>
                </a:rPr>
                <a:t>Construa o circuito seguinte. A porta lógica utilizada chama-se </a:t>
              </a:r>
              <a:r>
                <a:rPr lang="pt-PT" sz="1600" b="0" i="1">
                  <a:latin typeface="Arial" charset="0"/>
                </a:rPr>
                <a:t>OR-2</a:t>
              </a:r>
              <a:endParaRPr lang="en-US" sz="1600" b="0">
                <a:latin typeface="Arial" charset="0"/>
              </a:endParaRPr>
            </a:p>
          </p:txBody>
        </p:sp>
        <p:sp>
          <p:nvSpPr>
            <p:cNvPr id="32808" name="Line 40"/>
            <p:cNvSpPr>
              <a:spLocks noChangeShapeType="1"/>
            </p:cNvSpPr>
            <p:nvPr/>
          </p:nvSpPr>
          <p:spPr bwMode="auto">
            <a:xfrm>
              <a:off x="3120" y="816"/>
              <a:ext cx="1392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aphicFrame>
        <p:nvGraphicFramePr>
          <p:cNvPr id="32815" name="Object 47"/>
          <p:cNvGraphicFramePr>
            <a:graphicFrameLocks noChangeAspect="1"/>
          </p:cNvGraphicFramePr>
          <p:nvPr/>
        </p:nvGraphicFramePr>
        <p:xfrm>
          <a:off x="5638800" y="4391025"/>
          <a:ext cx="3249613" cy="1323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77" name="Bitmap Image" r:id="rId13" imgW="3247619" imgH="1324160" progId="Paint.Picture">
                  <p:embed/>
                </p:oleObj>
              </mc:Choice>
              <mc:Fallback>
                <p:oleObj name="Bitmap Image" r:id="rId13" imgW="3247619" imgH="1324160" progId="Paint.Picture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4391025"/>
                        <a:ext cx="3249613" cy="1323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2829" name="Group 61"/>
          <p:cNvGrpSpPr>
            <a:grpSpLocks/>
          </p:cNvGrpSpPr>
          <p:nvPr/>
        </p:nvGrpSpPr>
        <p:grpSpPr bwMode="auto">
          <a:xfrm>
            <a:off x="1836738" y="3284538"/>
            <a:ext cx="5111750" cy="3497262"/>
            <a:chOff x="1066" y="2069"/>
            <a:chExt cx="3220" cy="2203"/>
          </a:xfrm>
        </p:grpSpPr>
        <p:sp>
          <p:nvSpPr>
            <p:cNvPr id="32793" name="Text Box 25"/>
            <p:cNvSpPr txBox="1">
              <a:spLocks noChangeArrowheads="1"/>
            </p:cNvSpPr>
            <p:nvPr/>
          </p:nvSpPr>
          <p:spPr bwMode="auto">
            <a:xfrm>
              <a:off x="1598" y="3906"/>
              <a:ext cx="2688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pt-PT" sz="1600" b="0">
                  <a:latin typeface="Arial" charset="0"/>
                </a:rPr>
                <a:t>Nos atributos do componente </a:t>
              </a:r>
              <a:r>
                <a:rPr lang="pt-PT" sz="1600" b="0" i="1">
                  <a:latin typeface="Arial" charset="0"/>
                </a:rPr>
                <a:t>Clock </a:t>
              </a:r>
              <a:r>
                <a:rPr lang="pt-PT" sz="1600" b="0">
                  <a:latin typeface="Arial" charset="0"/>
                </a:rPr>
                <a:t>é            possível especificar os parâmetros do relógio</a:t>
              </a:r>
              <a:endParaRPr lang="en-US" sz="1600" b="0">
                <a:latin typeface="Arial" charset="0"/>
              </a:endParaRPr>
            </a:p>
          </p:txBody>
        </p:sp>
        <p:sp>
          <p:nvSpPr>
            <p:cNvPr id="32795" name="Oval 27"/>
            <p:cNvSpPr>
              <a:spLocks noChangeArrowheads="1"/>
            </p:cNvSpPr>
            <p:nvPr/>
          </p:nvSpPr>
          <p:spPr bwMode="auto">
            <a:xfrm>
              <a:off x="1354" y="3875"/>
              <a:ext cx="288" cy="288"/>
            </a:xfrm>
            <a:prstGeom prst="ellipse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pt-PT" sz="2000" b="0">
                  <a:latin typeface="Arial" charset="0"/>
                </a:rPr>
                <a:t>3</a:t>
              </a:r>
              <a:endParaRPr lang="en-US" sz="2000" b="0">
                <a:latin typeface="Arial" charset="0"/>
              </a:endParaRPr>
            </a:p>
          </p:txBody>
        </p:sp>
        <p:sp>
          <p:nvSpPr>
            <p:cNvPr id="32816" name="Line 48"/>
            <p:cNvSpPr>
              <a:spLocks noChangeShapeType="1"/>
            </p:cNvSpPr>
            <p:nvPr/>
          </p:nvSpPr>
          <p:spPr bwMode="auto">
            <a:xfrm flipH="1" flipV="1">
              <a:off x="1066" y="2976"/>
              <a:ext cx="432" cy="8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17" name="Line 49"/>
            <p:cNvSpPr>
              <a:spLocks noChangeShapeType="1"/>
            </p:cNvSpPr>
            <p:nvPr/>
          </p:nvSpPr>
          <p:spPr bwMode="auto">
            <a:xfrm flipV="1">
              <a:off x="1498" y="2069"/>
              <a:ext cx="293" cy="18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18" name="Line 50"/>
            <p:cNvSpPr>
              <a:spLocks noChangeShapeType="1"/>
            </p:cNvSpPr>
            <p:nvPr/>
          </p:nvSpPr>
          <p:spPr bwMode="auto">
            <a:xfrm flipV="1">
              <a:off x="1498" y="3475"/>
              <a:ext cx="293" cy="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32826" name="Group 58"/>
          <p:cNvGrpSpPr>
            <a:grpSpLocks/>
          </p:cNvGrpSpPr>
          <p:nvPr/>
        </p:nvGrpSpPr>
        <p:grpSpPr bwMode="auto">
          <a:xfrm>
            <a:off x="5867400" y="3213100"/>
            <a:ext cx="3200400" cy="1206500"/>
            <a:chOff x="3696" y="2024"/>
            <a:chExt cx="2016" cy="760"/>
          </a:xfrm>
        </p:grpSpPr>
        <p:sp>
          <p:nvSpPr>
            <p:cNvPr id="32820" name="Text Box 52"/>
            <p:cNvSpPr txBox="1">
              <a:spLocks noChangeArrowheads="1"/>
            </p:cNvSpPr>
            <p:nvPr/>
          </p:nvSpPr>
          <p:spPr bwMode="auto">
            <a:xfrm>
              <a:off x="4080" y="2024"/>
              <a:ext cx="1632" cy="5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pt-PT" sz="1600" b="0">
                  <a:latin typeface="Arial" charset="0"/>
                </a:rPr>
                <a:t>Verifique como os parâmetros definidos influenciam a simulação</a:t>
              </a:r>
              <a:endParaRPr lang="en-US" sz="1600" b="0">
                <a:latin typeface="Arial" charset="0"/>
              </a:endParaRPr>
            </a:p>
          </p:txBody>
        </p:sp>
        <p:sp>
          <p:nvSpPr>
            <p:cNvPr id="32821" name="Line 53"/>
            <p:cNvSpPr>
              <a:spLocks noChangeShapeType="1"/>
            </p:cNvSpPr>
            <p:nvPr/>
          </p:nvSpPr>
          <p:spPr bwMode="auto">
            <a:xfrm>
              <a:off x="3840" y="2304"/>
              <a:ext cx="24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19" name="Oval 51"/>
            <p:cNvSpPr>
              <a:spLocks noChangeArrowheads="1"/>
            </p:cNvSpPr>
            <p:nvPr/>
          </p:nvSpPr>
          <p:spPr bwMode="auto">
            <a:xfrm>
              <a:off x="3696" y="2064"/>
              <a:ext cx="288" cy="288"/>
            </a:xfrm>
            <a:prstGeom prst="ellipse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pt-PT" sz="2000" b="0">
                  <a:latin typeface="Arial" charset="0"/>
                </a:rPr>
                <a:t>4</a:t>
              </a:r>
              <a:endParaRPr lang="en-US" sz="2000" b="0">
                <a:latin typeface="Arial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2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" dur="500"/>
                                        <p:tgtEl>
                                          <p:spTgt spid="32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2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0" dur="500"/>
                                        <p:tgtEl>
                                          <p:spTgt spid="32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2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9" dur="500"/>
                                        <p:tgtEl>
                                          <p:spTgt spid="32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32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32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2" dur="500"/>
                                        <p:tgtEl>
                                          <p:spTgt spid="32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845" name="Object 29"/>
          <p:cNvGraphicFramePr>
            <a:graphicFrameLocks noChangeAspect="1"/>
          </p:cNvGraphicFramePr>
          <p:nvPr/>
        </p:nvGraphicFramePr>
        <p:xfrm>
          <a:off x="2776538" y="3656013"/>
          <a:ext cx="1724025" cy="308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75" name="Bitmap Image" r:id="rId3" imgW="1724266" imgH="3086531" progId="Paint.Picture">
                  <p:embed/>
                </p:oleObj>
              </mc:Choice>
              <mc:Fallback>
                <p:oleObj name="Bitmap Image" r:id="rId3" imgW="1724266" imgH="3086531" progId="Paint.Picture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6538" y="3656013"/>
                        <a:ext cx="1724025" cy="308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43" name="Object 27"/>
          <p:cNvGraphicFramePr>
            <a:graphicFrameLocks noChangeAspect="1"/>
          </p:cNvGraphicFramePr>
          <p:nvPr/>
        </p:nvGraphicFramePr>
        <p:xfrm>
          <a:off x="4673600" y="1257300"/>
          <a:ext cx="4219575" cy="217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76" name="Bitmap Image" r:id="rId5" imgW="4219048" imgH="2172003" progId="Paint.Picture">
                  <p:embed/>
                </p:oleObj>
              </mc:Choice>
              <mc:Fallback>
                <p:oleObj name="Bitmap Image" r:id="rId5" imgW="4219048" imgH="2172003" progId="Paint.Picture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3600" y="1257300"/>
                        <a:ext cx="4219575" cy="217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18" name="Object 2"/>
          <p:cNvGraphicFramePr>
            <a:graphicFrameLocks noChangeAspect="1"/>
          </p:cNvGraphicFramePr>
          <p:nvPr/>
        </p:nvGraphicFramePr>
        <p:xfrm>
          <a:off x="685800" y="1733550"/>
          <a:ext cx="2476500" cy="161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77" name="Bitmap Image" r:id="rId7" imgW="2476190" imgH="1619476" progId="Paint.Picture">
                  <p:embed/>
                </p:oleObj>
              </mc:Choice>
              <mc:Fallback>
                <p:oleObj name="Bitmap Image" r:id="rId7" imgW="2476190" imgH="1619476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1733550"/>
                        <a:ext cx="2476500" cy="161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5" name="Object 9"/>
          <p:cNvGraphicFramePr>
            <a:graphicFrameLocks noChangeAspect="1"/>
          </p:cNvGraphicFramePr>
          <p:nvPr/>
        </p:nvGraphicFramePr>
        <p:xfrm>
          <a:off x="4648200" y="4200525"/>
          <a:ext cx="4105275" cy="220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78" name="Bitmap Image" r:id="rId9" imgW="4105848" imgH="2200582" progId="Paint.Picture">
                  <p:embed/>
                </p:oleObj>
              </mc:Choice>
              <mc:Fallback>
                <p:oleObj name="Bitmap Image" r:id="rId9" imgW="4105848" imgH="2200582" progId="Paint.Picture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4200525"/>
                        <a:ext cx="4105275" cy="220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4839" name="Group 23"/>
          <p:cNvGrpSpPr>
            <a:grpSpLocks/>
          </p:cNvGrpSpPr>
          <p:nvPr/>
        </p:nvGrpSpPr>
        <p:grpSpPr bwMode="auto">
          <a:xfrm>
            <a:off x="381000" y="228600"/>
            <a:ext cx="4343400" cy="2590800"/>
            <a:chOff x="240" y="144"/>
            <a:chExt cx="2736" cy="1632"/>
          </a:xfrm>
        </p:grpSpPr>
        <p:sp>
          <p:nvSpPr>
            <p:cNvPr id="34821" name="Oval 5"/>
            <p:cNvSpPr>
              <a:spLocks noChangeArrowheads="1"/>
            </p:cNvSpPr>
            <p:nvPr/>
          </p:nvSpPr>
          <p:spPr bwMode="auto">
            <a:xfrm>
              <a:off x="240" y="144"/>
              <a:ext cx="288" cy="288"/>
            </a:xfrm>
            <a:prstGeom prst="ellipse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pt-PT" sz="2000" b="0">
                  <a:latin typeface="Arial" charset="0"/>
                </a:rPr>
                <a:t>5</a:t>
              </a:r>
              <a:endParaRPr lang="en-US" sz="2000" b="0">
                <a:latin typeface="Arial" charset="0"/>
              </a:endParaRPr>
            </a:p>
          </p:txBody>
        </p:sp>
        <p:sp>
          <p:nvSpPr>
            <p:cNvPr id="34822" name="Text Box 6"/>
            <p:cNvSpPr txBox="1">
              <a:spLocks noChangeArrowheads="1"/>
            </p:cNvSpPr>
            <p:nvPr/>
          </p:nvSpPr>
          <p:spPr bwMode="auto">
            <a:xfrm>
              <a:off x="768" y="144"/>
              <a:ext cx="2208" cy="8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pt-PT" sz="1600" b="0">
                  <a:latin typeface="Arial" charset="0"/>
                </a:rPr>
                <a:t>Para além dos diagramas temporais, pode-se usar o componente </a:t>
              </a:r>
              <a:r>
                <a:rPr lang="pt-PT" sz="1600" b="0" i="1">
                  <a:latin typeface="Arial" charset="0"/>
                </a:rPr>
                <a:t>Binary Probe </a:t>
              </a:r>
              <a:r>
                <a:rPr lang="pt-PT" sz="1600" b="0">
                  <a:latin typeface="Arial" charset="0"/>
                </a:rPr>
                <a:t>disponível na biblioteca </a:t>
              </a:r>
              <a:r>
                <a:rPr lang="pt-PT" sz="1600" b="0" i="1">
                  <a:latin typeface="Arial" charset="0"/>
                </a:rPr>
                <a:t>SimulationIO </a:t>
              </a:r>
              <a:r>
                <a:rPr lang="pt-PT" sz="1600" b="0">
                  <a:latin typeface="Arial" charset="0"/>
                </a:rPr>
                <a:t>para visualizar o valor corrente de um sinal</a:t>
              </a:r>
              <a:endParaRPr lang="en-US" sz="1600" b="0">
                <a:latin typeface="Arial" charset="0"/>
              </a:endParaRPr>
            </a:p>
          </p:txBody>
        </p:sp>
        <p:sp>
          <p:nvSpPr>
            <p:cNvPr id="34826" name="Line 10"/>
            <p:cNvSpPr>
              <a:spLocks noChangeShapeType="1"/>
            </p:cNvSpPr>
            <p:nvPr/>
          </p:nvSpPr>
          <p:spPr bwMode="auto">
            <a:xfrm>
              <a:off x="432" y="432"/>
              <a:ext cx="816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4827" name="Line 11"/>
            <p:cNvSpPr>
              <a:spLocks noChangeShapeType="1"/>
            </p:cNvSpPr>
            <p:nvPr/>
          </p:nvSpPr>
          <p:spPr bwMode="auto">
            <a:xfrm>
              <a:off x="432" y="432"/>
              <a:ext cx="816" cy="13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34841" name="Group 25"/>
          <p:cNvGrpSpPr>
            <a:grpSpLocks/>
          </p:cNvGrpSpPr>
          <p:nvPr/>
        </p:nvGrpSpPr>
        <p:grpSpPr bwMode="auto">
          <a:xfrm>
            <a:off x="5486400" y="152400"/>
            <a:ext cx="3657600" cy="1600200"/>
            <a:chOff x="3456" y="96"/>
            <a:chExt cx="2304" cy="1008"/>
          </a:xfrm>
        </p:grpSpPr>
        <p:sp>
          <p:nvSpPr>
            <p:cNvPr id="34828" name="Oval 12"/>
            <p:cNvSpPr>
              <a:spLocks noChangeArrowheads="1"/>
            </p:cNvSpPr>
            <p:nvPr/>
          </p:nvSpPr>
          <p:spPr bwMode="auto">
            <a:xfrm>
              <a:off x="3456" y="96"/>
              <a:ext cx="288" cy="288"/>
            </a:xfrm>
            <a:prstGeom prst="ellipse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pt-PT" sz="2000" b="0">
                  <a:latin typeface="Arial" charset="0"/>
                </a:rPr>
                <a:t>6</a:t>
              </a:r>
              <a:endParaRPr lang="en-US" sz="2000" b="0">
                <a:latin typeface="Arial" charset="0"/>
              </a:endParaRPr>
            </a:p>
          </p:txBody>
        </p:sp>
        <p:sp>
          <p:nvSpPr>
            <p:cNvPr id="34829" name="Text Box 13"/>
            <p:cNvSpPr txBox="1">
              <a:spLocks noChangeArrowheads="1"/>
            </p:cNvSpPr>
            <p:nvPr/>
          </p:nvSpPr>
          <p:spPr bwMode="auto">
            <a:xfrm>
              <a:off x="3840" y="144"/>
              <a:ext cx="1920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pt-PT" sz="1600" b="0">
                  <a:latin typeface="Arial" charset="0"/>
                </a:rPr>
                <a:t>Adicione 3 </a:t>
              </a:r>
              <a:r>
                <a:rPr lang="pt-PT" sz="1600" b="0" i="1">
                  <a:latin typeface="Arial" charset="0"/>
                </a:rPr>
                <a:t>Binary Probes </a:t>
              </a:r>
              <a:r>
                <a:rPr lang="pt-PT" sz="1600" b="0">
                  <a:latin typeface="Arial" charset="0"/>
                </a:rPr>
                <a:t>conforme ilustrado na figura</a:t>
              </a:r>
              <a:endParaRPr lang="en-US" sz="1600" b="0">
                <a:latin typeface="Arial" charset="0"/>
              </a:endParaRPr>
            </a:p>
          </p:txBody>
        </p:sp>
        <p:sp>
          <p:nvSpPr>
            <p:cNvPr id="34830" name="Line 14"/>
            <p:cNvSpPr>
              <a:spLocks noChangeShapeType="1"/>
            </p:cNvSpPr>
            <p:nvPr/>
          </p:nvSpPr>
          <p:spPr bwMode="auto">
            <a:xfrm>
              <a:off x="3600" y="384"/>
              <a:ext cx="96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4831" name="Line 15"/>
            <p:cNvSpPr>
              <a:spLocks noChangeShapeType="1"/>
            </p:cNvSpPr>
            <p:nvPr/>
          </p:nvSpPr>
          <p:spPr bwMode="auto">
            <a:xfrm>
              <a:off x="3600" y="384"/>
              <a:ext cx="1488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34846" name="Group 30"/>
          <p:cNvGrpSpPr>
            <a:grpSpLocks/>
          </p:cNvGrpSpPr>
          <p:nvPr/>
        </p:nvGrpSpPr>
        <p:grpSpPr bwMode="auto">
          <a:xfrm>
            <a:off x="152400" y="3810000"/>
            <a:ext cx="2763838" cy="2901950"/>
            <a:chOff x="96" y="2400"/>
            <a:chExt cx="1741" cy="1828"/>
          </a:xfrm>
        </p:grpSpPr>
        <p:sp>
          <p:nvSpPr>
            <p:cNvPr id="34832" name="Oval 16"/>
            <p:cNvSpPr>
              <a:spLocks noChangeArrowheads="1"/>
            </p:cNvSpPr>
            <p:nvPr/>
          </p:nvSpPr>
          <p:spPr bwMode="auto">
            <a:xfrm>
              <a:off x="1056" y="2400"/>
              <a:ext cx="288" cy="288"/>
            </a:xfrm>
            <a:prstGeom prst="ellipse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pt-PT" sz="2000" b="0">
                  <a:latin typeface="Arial" charset="0"/>
                </a:rPr>
                <a:t>7</a:t>
              </a:r>
              <a:endParaRPr lang="en-US" sz="2000" b="0">
                <a:latin typeface="Arial" charset="0"/>
              </a:endParaRPr>
            </a:p>
          </p:txBody>
        </p:sp>
        <p:sp>
          <p:nvSpPr>
            <p:cNvPr id="34833" name="Text Box 17"/>
            <p:cNvSpPr txBox="1">
              <a:spLocks noChangeArrowheads="1"/>
            </p:cNvSpPr>
            <p:nvPr/>
          </p:nvSpPr>
          <p:spPr bwMode="auto">
            <a:xfrm>
              <a:off x="96" y="2784"/>
              <a:ext cx="1392" cy="14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pt-PT" sz="1600" b="0">
                  <a:latin typeface="Arial" charset="0"/>
                </a:rPr>
                <a:t>Se planeia utilizar o circuito construído como uma parte de um outro circuito maior, deve adicionar as portas de entrada e/ou saída localizadas na biblioteca </a:t>
              </a:r>
              <a:r>
                <a:rPr lang="pt-PT" sz="1600" b="0" i="1">
                  <a:latin typeface="Arial" charset="0"/>
                </a:rPr>
                <a:t>Pseudo</a:t>
              </a:r>
            </a:p>
            <a:p>
              <a:r>
                <a:rPr lang="pt-PT" sz="1600" b="0" i="1">
                  <a:latin typeface="Arial" charset="0"/>
                </a:rPr>
                <a:t>Devices</a:t>
              </a:r>
              <a:endParaRPr lang="en-US" sz="1600" b="0">
                <a:latin typeface="Arial" charset="0"/>
              </a:endParaRPr>
            </a:p>
          </p:txBody>
        </p:sp>
        <p:sp>
          <p:nvSpPr>
            <p:cNvPr id="34834" name="Line 18"/>
            <p:cNvSpPr>
              <a:spLocks noChangeShapeType="1"/>
            </p:cNvSpPr>
            <p:nvPr/>
          </p:nvSpPr>
          <p:spPr bwMode="auto">
            <a:xfrm flipV="1">
              <a:off x="1344" y="2432"/>
              <a:ext cx="447" cy="1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4835" name="Line 19"/>
            <p:cNvSpPr>
              <a:spLocks noChangeShapeType="1"/>
            </p:cNvSpPr>
            <p:nvPr/>
          </p:nvSpPr>
          <p:spPr bwMode="auto">
            <a:xfrm>
              <a:off x="1344" y="2544"/>
              <a:ext cx="493" cy="15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34842" name="Group 26"/>
          <p:cNvGrpSpPr>
            <a:grpSpLocks/>
          </p:cNvGrpSpPr>
          <p:nvPr/>
        </p:nvGrpSpPr>
        <p:grpSpPr bwMode="auto">
          <a:xfrm>
            <a:off x="5181600" y="3657600"/>
            <a:ext cx="3429000" cy="1447800"/>
            <a:chOff x="3264" y="2304"/>
            <a:chExt cx="2160" cy="912"/>
          </a:xfrm>
        </p:grpSpPr>
        <p:sp>
          <p:nvSpPr>
            <p:cNvPr id="34836" name="Oval 20"/>
            <p:cNvSpPr>
              <a:spLocks noChangeArrowheads="1"/>
            </p:cNvSpPr>
            <p:nvPr/>
          </p:nvSpPr>
          <p:spPr bwMode="auto">
            <a:xfrm>
              <a:off x="5136" y="2304"/>
              <a:ext cx="288" cy="288"/>
            </a:xfrm>
            <a:prstGeom prst="ellipse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pt-PT" sz="2000" b="0">
                  <a:latin typeface="Arial" charset="0"/>
                </a:rPr>
                <a:t>8</a:t>
              </a:r>
              <a:endParaRPr lang="en-US" sz="2000" b="0">
                <a:latin typeface="Arial" charset="0"/>
              </a:endParaRPr>
            </a:p>
          </p:txBody>
        </p:sp>
        <p:sp>
          <p:nvSpPr>
            <p:cNvPr id="34837" name="Text Box 21"/>
            <p:cNvSpPr txBox="1">
              <a:spLocks noChangeArrowheads="1"/>
            </p:cNvSpPr>
            <p:nvPr/>
          </p:nvSpPr>
          <p:spPr bwMode="auto">
            <a:xfrm>
              <a:off x="3264" y="2304"/>
              <a:ext cx="1920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pt-PT" sz="1600" b="0">
                  <a:latin typeface="Arial" charset="0"/>
                </a:rPr>
                <a:t>Crie uma porta de saída e nomeie-a </a:t>
              </a:r>
              <a:r>
                <a:rPr lang="pt-PT" sz="1600">
                  <a:latin typeface="Arial" charset="0"/>
                </a:rPr>
                <a:t>out</a:t>
              </a:r>
              <a:endParaRPr lang="en-US" sz="1600" b="0">
                <a:latin typeface="Arial" charset="0"/>
              </a:endParaRPr>
            </a:p>
          </p:txBody>
        </p:sp>
        <p:sp>
          <p:nvSpPr>
            <p:cNvPr id="34838" name="Line 22"/>
            <p:cNvSpPr>
              <a:spLocks noChangeShapeType="1"/>
            </p:cNvSpPr>
            <p:nvPr/>
          </p:nvSpPr>
          <p:spPr bwMode="auto">
            <a:xfrm>
              <a:off x="5280" y="259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4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" dur="500"/>
                                        <p:tgtEl>
                                          <p:spTgt spid="34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4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0" dur="500"/>
                                        <p:tgtEl>
                                          <p:spTgt spid="34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4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9" dur="500"/>
                                        <p:tgtEl>
                                          <p:spTgt spid="34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4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8" dur="500"/>
                                        <p:tgtEl>
                                          <p:spTgt spid="34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834" name="Object 42"/>
          <p:cNvGraphicFramePr>
            <a:graphicFrameLocks noChangeAspect="1"/>
          </p:cNvGraphicFramePr>
          <p:nvPr/>
        </p:nvGraphicFramePr>
        <p:xfrm>
          <a:off x="2066925" y="2667000"/>
          <a:ext cx="5476875" cy="200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55" name="Bitmap Image" r:id="rId3" imgW="5477640" imgH="2000000" progId="Paint.Picture">
                  <p:embed/>
                </p:oleObj>
              </mc:Choice>
              <mc:Fallback>
                <p:oleObj name="Bitmap Image" r:id="rId3" imgW="5477640" imgH="2000000" progId="Paint.Picture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6925" y="2667000"/>
                        <a:ext cx="5476875" cy="200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4" name="Text Box 2"/>
          <p:cNvSpPr txBox="1">
            <a:spLocks noChangeArrowheads="1"/>
          </p:cNvSpPr>
          <p:nvPr/>
        </p:nvSpPr>
        <p:spPr bwMode="auto">
          <a:xfrm>
            <a:off x="212725" y="163513"/>
            <a:ext cx="57007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pt-PT" sz="2000">
                <a:solidFill>
                  <a:srgbClr val="FF3300"/>
                </a:solidFill>
                <a:latin typeface="Arial" charset="0"/>
              </a:rPr>
              <a:t>Exemplo</a:t>
            </a:r>
            <a:r>
              <a:rPr lang="en-US" sz="2000">
                <a:solidFill>
                  <a:srgbClr val="FF3300"/>
                </a:solidFill>
                <a:latin typeface="Arial" charset="0"/>
              </a:rPr>
              <a:t> 3</a:t>
            </a:r>
            <a:r>
              <a:rPr lang="en-US" sz="2000" b="0">
                <a:latin typeface="Arial" charset="0"/>
              </a:rPr>
              <a:t>. </a:t>
            </a:r>
            <a:r>
              <a:rPr lang="pt-PT" sz="2000" b="0">
                <a:latin typeface="Arial" charset="0"/>
              </a:rPr>
              <a:t>Construção de circuitos hierárquicos</a:t>
            </a:r>
            <a:endParaRPr lang="en-US" sz="2000" b="0">
              <a:latin typeface="Arial" charset="0"/>
            </a:endParaRPr>
          </a:p>
        </p:txBody>
      </p:sp>
      <p:sp>
        <p:nvSpPr>
          <p:cNvPr id="33795" name="Text Box 3"/>
          <p:cNvSpPr txBox="1">
            <a:spLocks noChangeArrowheads="1"/>
          </p:cNvSpPr>
          <p:nvPr/>
        </p:nvSpPr>
        <p:spPr bwMode="auto">
          <a:xfrm>
            <a:off x="288925" y="650875"/>
            <a:ext cx="86264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pt-PT" sz="2000" b="0">
                <a:latin typeface="Arial" charset="0"/>
              </a:rPr>
              <a:t>O exemplo ilustra todos os passos necessários para construir e simular um circuito hierárquico.</a:t>
            </a:r>
            <a:endParaRPr lang="en-US" sz="2000" b="0">
              <a:latin typeface="Arial" charset="0"/>
            </a:endParaRPr>
          </a:p>
        </p:txBody>
      </p:sp>
      <p:grpSp>
        <p:nvGrpSpPr>
          <p:cNvPr id="33839" name="Group 47"/>
          <p:cNvGrpSpPr>
            <a:grpSpLocks/>
          </p:cNvGrpSpPr>
          <p:nvPr/>
        </p:nvGrpSpPr>
        <p:grpSpPr bwMode="auto">
          <a:xfrm>
            <a:off x="609600" y="1676400"/>
            <a:ext cx="4800600" cy="990600"/>
            <a:chOff x="384" y="1056"/>
            <a:chExt cx="3024" cy="624"/>
          </a:xfrm>
        </p:grpSpPr>
        <p:sp>
          <p:nvSpPr>
            <p:cNvPr id="33830" name="Text Box 38"/>
            <p:cNvSpPr txBox="1">
              <a:spLocks noChangeArrowheads="1"/>
            </p:cNvSpPr>
            <p:nvPr/>
          </p:nvSpPr>
          <p:spPr bwMode="auto">
            <a:xfrm>
              <a:off x="816" y="1056"/>
              <a:ext cx="2592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pt-PT" sz="1600" b="0">
                  <a:latin typeface="Arial" charset="0"/>
                </a:rPr>
                <a:t>Construa o circuito seguinte. </a:t>
              </a:r>
              <a:r>
                <a:rPr lang="pt-PT" sz="1600">
                  <a:latin typeface="Arial" charset="0"/>
                </a:rPr>
                <a:t>a</a:t>
              </a:r>
              <a:r>
                <a:rPr lang="pt-PT" sz="1600" b="0">
                  <a:latin typeface="Arial" charset="0"/>
                </a:rPr>
                <a:t>,</a:t>
              </a:r>
              <a:r>
                <a:rPr lang="pt-PT" sz="1600">
                  <a:latin typeface="Arial" charset="0"/>
                </a:rPr>
                <a:t> b </a:t>
              </a:r>
              <a:r>
                <a:rPr lang="pt-PT" sz="1600" b="0">
                  <a:latin typeface="Arial" charset="0"/>
                </a:rPr>
                <a:t>e</a:t>
              </a:r>
              <a:r>
                <a:rPr lang="pt-PT" sz="1600">
                  <a:latin typeface="Arial" charset="0"/>
                </a:rPr>
                <a:t> f </a:t>
              </a:r>
              <a:r>
                <a:rPr lang="pt-PT" sz="1600" b="0">
                  <a:latin typeface="Arial" charset="0"/>
                </a:rPr>
                <a:t>representam portas de entrada e de saída</a:t>
              </a:r>
              <a:r>
                <a:rPr lang="pt-PT" sz="1600">
                  <a:latin typeface="Arial" charset="0"/>
                </a:rPr>
                <a:t> </a:t>
              </a:r>
              <a:endParaRPr lang="en-US" sz="1600" b="0">
                <a:latin typeface="Arial" charset="0"/>
              </a:endParaRPr>
            </a:p>
          </p:txBody>
        </p:sp>
        <p:sp>
          <p:nvSpPr>
            <p:cNvPr id="33831" name="Line 39"/>
            <p:cNvSpPr>
              <a:spLocks noChangeShapeType="1"/>
            </p:cNvSpPr>
            <p:nvPr/>
          </p:nvSpPr>
          <p:spPr bwMode="auto">
            <a:xfrm>
              <a:off x="576" y="1344"/>
              <a:ext cx="1008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3829" name="Oval 37"/>
            <p:cNvSpPr>
              <a:spLocks noChangeArrowheads="1"/>
            </p:cNvSpPr>
            <p:nvPr/>
          </p:nvSpPr>
          <p:spPr bwMode="auto">
            <a:xfrm>
              <a:off x="384" y="1104"/>
              <a:ext cx="288" cy="288"/>
            </a:xfrm>
            <a:prstGeom prst="ellipse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pt-PT" sz="2000" b="0">
                  <a:latin typeface="Arial" charset="0"/>
                </a:rPr>
                <a:t>1</a:t>
              </a:r>
              <a:endParaRPr lang="en-US" sz="2000" b="0">
                <a:latin typeface="Arial" charset="0"/>
              </a:endParaRPr>
            </a:p>
          </p:txBody>
        </p:sp>
      </p:grpSp>
      <p:grpSp>
        <p:nvGrpSpPr>
          <p:cNvPr id="33840" name="Group 48"/>
          <p:cNvGrpSpPr>
            <a:grpSpLocks/>
          </p:cNvGrpSpPr>
          <p:nvPr/>
        </p:nvGrpSpPr>
        <p:grpSpPr bwMode="auto">
          <a:xfrm>
            <a:off x="609600" y="5257800"/>
            <a:ext cx="7391400" cy="825500"/>
            <a:chOff x="384" y="3464"/>
            <a:chExt cx="4656" cy="520"/>
          </a:xfrm>
        </p:grpSpPr>
        <p:sp>
          <p:nvSpPr>
            <p:cNvPr id="33832" name="Text Box 40"/>
            <p:cNvSpPr txBox="1">
              <a:spLocks noChangeArrowheads="1"/>
            </p:cNvSpPr>
            <p:nvPr/>
          </p:nvSpPr>
          <p:spPr bwMode="auto">
            <a:xfrm>
              <a:off x="816" y="3464"/>
              <a:ext cx="4224" cy="5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pt-PT" sz="1600" b="0" dirty="0">
                  <a:latin typeface="Arial" charset="0"/>
                </a:rPr>
                <a:t>Repare que várias linhas podem ser interligadas </a:t>
              </a:r>
              <a:r>
                <a:rPr lang="pt-PT" sz="1600" b="0" i="1" dirty="0" smtClean="0">
                  <a:solidFill>
                    <a:srgbClr val="333399"/>
                  </a:solidFill>
                  <a:latin typeface="Arial" charset="0"/>
                </a:rPr>
                <a:t>diretamente</a:t>
              </a:r>
              <a:r>
                <a:rPr lang="pt-PT" sz="1600" b="0" dirty="0" smtClean="0">
                  <a:latin typeface="Arial" charset="0"/>
                </a:rPr>
                <a:t> </a:t>
              </a:r>
              <a:r>
                <a:rPr lang="pt-PT" sz="1600" b="0" dirty="0">
                  <a:latin typeface="Arial" charset="0"/>
                </a:rPr>
                <a:t>(assim como a porta de entrada </a:t>
              </a:r>
              <a:r>
                <a:rPr lang="pt-PT" sz="1600" dirty="0">
                  <a:latin typeface="Arial" charset="0"/>
                </a:rPr>
                <a:t>b </a:t>
              </a:r>
              <a:r>
                <a:rPr lang="pt-PT" sz="1600" b="0" dirty="0">
                  <a:latin typeface="Arial" charset="0"/>
                </a:rPr>
                <a:t>com o inversor </a:t>
              </a:r>
              <a:r>
                <a:rPr lang="pt-PT" sz="1600" dirty="0">
                  <a:latin typeface="Arial" charset="0"/>
                </a:rPr>
                <a:t>U4 </a:t>
              </a:r>
              <a:r>
                <a:rPr lang="pt-PT" sz="1600" b="0" dirty="0">
                  <a:latin typeface="Arial" charset="0"/>
                </a:rPr>
                <a:t>e a porta lógica </a:t>
              </a:r>
              <a:r>
                <a:rPr lang="pt-PT" sz="1600" dirty="0">
                  <a:latin typeface="Arial" charset="0"/>
                </a:rPr>
                <a:t>U1</a:t>
              </a:r>
              <a:r>
                <a:rPr lang="pt-PT" sz="1600" b="0" dirty="0">
                  <a:latin typeface="Arial" charset="0"/>
                </a:rPr>
                <a:t>) ou </a:t>
              </a:r>
              <a:r>
                <a:rPr lang="pt-PT" sz="1600" b="0" i="1" dirty="0">
                  <a:solidFill>
                    <a:srgbClr val="333399"/>
                  </a:solidFill>
                  <a:latin typeface="Arial" charset="0"/>
                </a:rPr>
                <a:t>por nome</a:t>
              </a:r>
              <a:r>
                <a:rPr lang="pt-PT" sz="1600" b="0" i="1" dirty="0">
                  <a:latin typeface="Arial" charset="0"/>
                </a:rPr>
                <a:t> </a:t>
              </a:r>
              <a:r>
                <a:rPr lang="pt-PT" sz="1600" b="0" dirty="0">
                  <a:latin typeface="Arial" charset="0"/>
                </a:rPr>
                <a:t>(assim como a porta de entrada </a:t>
              </a:r>
              <a:r>
                <a:rPr lang="pt-PT" sz="1600" dirty="0">
                  <a:latin typeface="Arial" charset="0"/>
                </a:rPr>
                <a:t>a </a:t>
              </a:r>
              <a:r>
                <a:rPr lang="pt-PT" sz="1600" b="0" dirty="0">
                  <a:latin typeface="Arial" charset="0"/>
                </a:rPr>
                <a:t>com a porta lógica </a:t>
              </a:r>
              <a:r>
                <a:rPr lang="pt-PT" sz="1600" dirty="0">
                  <a:latin typeface="Arial" charset="0"/>
                </a:rPr>
                <a:t>U2</a:t>
              </a:r>
              <a:r>
                <a:rPr lang="pt-PT" sz="1600" b="0" dirty="0">
                  <a:latin typeface="Arial" charset="0"/>
                </a:rPr>
                <a:t>)</a:t>
              </a:r>
              <a:endParaRPr lang="en-US" sz="1600" b="0" dirty="0">
                <a:latin typeface="Arial" charset="0"/>
              </a:endParaRPr>
            </a:p>
          </p:txBody>
        </p:sp>
        <p:sp>
          <p:nvSpPr>
            <p:cNvPr id="33833" name="Oval 41"/>
            <p:cNvSpPr>
              <a:spLocks noChangeArrowheads="1"/>
            </p:cNvSpPr>
            <p:nvPr/>
          </p:nvSpPr>
          <p:spPr bwMode="auto">
            <a:xfrm>
              <a:off x="384" y="3512"/>
              <a:ext cx="288" cy="288"/>
            </a:xfrm>
            <a:prstGeom prst="ellipse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pt-PT" sz="2000" b="0">
                  <a:latin typeface="Arial" charset="0"/>
                </a:rPr>
                <a:t>2</a:t>
              </a:r>
              <a:endParaRPr lang="en-US" sz="2000" b="0">
                <a:latin typeface="Arial" charset="0"/>
              </a:endParaRPr>
            </a:p>
          </p:txBody>
        </p:sp>
      </p:grpSp>
      <p:grpSp>
        <p:nvGrpSpPr>
          <p:cNvPr id="33841" name="Group 49"/>
          <p:cNvGrpSpPr>
            <a:grpSpLocks/>
          </p:cNvGrpSpPr>
          <p:nvPr/>
        </p:nvGrpSpPr>
        <p:grpSpPr bwMode="auto">
          <a:xfrm>
            <a:off x="914400" y="4495800"/>
            <a:ext cx="2971800" cy="671513"/>
            <a:chOff x="576" y="2832"/>
            <a:chExt cx="1872" cy="423"/>
          </a:xfrm>
        </p:grpSpPr>
        <p:sp>
          <p:nvSpPr>
            <p:cNvPr id="33835" name="Text Box 43"/>
            <p:cNvSpPr txBox="1">
              <a:spLocks noChangeArrowheads="1"/>
            </p:cNvSpPr>
            <p:nvPr/>
          </p:nvSpPr>
          <p:spPr bwMode="auto">
            <a:xfrm>
              <a:off x="576" y="3024"/>
              <a:ext cx="126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pt-PT" sz="1800" b="0" i="1">
                  <a:solidFill>
                    <a:srgbClr val="333399"/>
                  </a:solidFill>
                  <a:latin typeface="Arial" charset="0"/>
                </a:rPr>
                <a:t>Ligação por nome</a:t>
              </a:r>
              <a:endParaRPr lang="en-US" sz="1800" b="0" i="1">
                <a:solidFill>
                  <a:srgbClr val="333399"/>
                </a:solidFill>
                <a:latin typeface="Arial" charset="0"/>
              </a:endParaRPr>
            </a:p>
          </p:txBody>
        </p:sp>
        <p:sp>
          <p:nvSpPr>
            <p:cNvPr id="33836" name="Line 44"/>
            <p:cNvSpPr>
              <a:spLocks noChangeShapeType="1"/>
            </p:cNvSpPr>
            <p:nvPr/>
          </p:nvSpPr>
          <p:spPr bwMode="auto">
            <a:xfrm flipV="1">
              <a:off x="1824" y="2832"/>
              <a:ext cx="624" cy="336"/>
            </a:xfrm>
            <a:prstGeom prst="line">
              <a:avLst/>
            </a:prstGeom>
            <a:noFill/>
            <a:ln w="9525">
              <a:solidFill>
                <a:srgbClr val="3333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33842" name="Group 50"/>
          <p:cNvGrpSpPr>
            <a:grpSpLocks/>
          </p:cNvGrpSpPr>
          <p:nvPr/>
        </p:nvGrpSpPr>
        <p:grpSpPr bwMode="auto">
          <a:xfrm>
            <a:off x="658813" y="3429000"/>
            <a:ext cx="2312988" cy="369888"/>
            <a:chOff x="415" y="2160"/>
            <a:chExt cx="1457" cy="233"/>
          </a:xfrm>
        </p:grpSpPr>
        <p:sp>
          <p:nvSpPr>
            <p:cNvPr id="33837" name="Text Box 45"/>
            <p:cNvSpPr txBox="1">
              <a:spLocks noChangeArrowheads="1"/>
            </p:cNvSpPr>
            <p:nvPr/>
          </p:nvSpPr>
          <p:spPr bwMode="auto">
            <a:xfrm>
              <a:off x="415" y="2160"/>
              <a:ext cx="102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pt-PT" sz="1800" b="0" i="1" dirty="0">
                  <a:solidFill>
                    <a:srgbClr val="333399"/>
                  </a:solidFill>
                  <a:latin typeface="Arial" charset="0"/>
                </a:rPr>
                <a:t>Ligação </a:t>
              </a:r>
              <a:r>
                <a:rPr lang="pt-PT" sz="1800" b="0" i="1" dirty="0" smtClean="0">
                  <a:solidFill>
                    <a:srgbClr val="333399"/>
                  </a:solidFill>
                  <a:latin typeface="Arial" charset="0"/>
                </a:rPr>
                <a:t>direta</a:t>
              </a:r>
              <a:endParaRPr lang="en-US" sz="1800" b="0" i="1" dirty="0">
                <a:solidFill>
                  <a:srgbClr val="333399"/>
                </a:solidFill>
                <a:latin typeface="Arial" charset="0"/>
              </a:endParaRPr>
            </a:p>
          </p:txBody>
        </p:sp>
        <p:sp>
          <p:nvSpPr>
            <p:cNvPr id="33838" name="Line 46"/>
            <p:cNvSpPr>
              <a:spLocks noChangeShapeType="1"/>
            </p:cNvSpPr>
            <p:nvPr/>
          </p:nvSpPr>
          <p:spPr bwMode="auto">
            <a:xfrm>
              <a:off x="1488" y="2304"/>
              <a:ext cx="384" cy="0"/>
            </a:xfrm>
            <a:prstGeom prst="line">
              <a:avLst/>
            </a:prstGeom>
            <a:noFill/>
            <a:ln w="9525">
              <a:solidFill>
                <a:srgbClr val="3333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33846" name="Group 54"/>
          <p:cNvGrpSpPr>
            <a:grpSpLocks/>
          </p:cNvGrpSpPr>
          <p:nvPr/>
        </p:nvGrpSpPr>
        <p:grpSpPr bwMode="auto">
          <a:xfrm>
            <a:off x="609600" y="6248400"/>
            <a:ext cx="7391400" cy="457200"/>
            <a:chOff x="384" y="3936"/>
            <a:chExt cx="4656" cy="288"/>
          </a:xfrm>
        </p:grpSpPr>
        <p:sp>
          <p:nvSpPr>
            <p:cNvPr id="33844" name="Text Box 52"/>
            <p:cNvSpPr txBox="1">
              <a:spLocks noChangeArrowheads="1"/>
            </p:cNvSpPr>
            <p:nvPr/>
          </p:nvSpPr>
          <p:spPr bwMode="auto">
            <a:xfrm>
              <a:off x="816" y="3964"/>
              <a:ext cx="422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pt-PT" sz="1600" b="0">
                  <a:latin typeface="Arial" charset="0"/>
                </a:rPr>
                <a:t>Grave o circuito com o nome </a:t>
              </a:r>
              <a:r>
                <a:rPr lang="pt-PT" sz="1600" b="0" i="1">
                  <a:latin typeface="Arial" charset="0"/>
                </a:rPr>
                <a:t>my_xor.cct</a:t>
              </a:r>
              <a:endParaRPr lang="en-US" sz="1600" b="0">
                <a:latin typeface="Arial" charset="0"/>
              </a:endParaRPr>
            </a:p>
          </p:txBody>
        </p:sp>
        <p:sp>
          <p:nvSpPr>
            <p:cNvPr id="33845" name="Oval 53"/>
            <p:cNvSpPr>
              <a:spLocks noChangeArrowheads="1"/>
            </p:cNvSpPr>
            <p:nvPr/>
          </p:nvSpPr>
          <p:spPr bwMode="auto">
            <a:xfrm>
              <a:off x="384" y="3936"/>
              <a:ext cx="288" cy="288"/>
            </a:xfrm>
            <a:prstGeom prst="ellipse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pt-PT" sz="2000" b="0">
                  <a:latin typeface="Arial" charset="0"/>
                </a:rPr>
                <a:t>3</a:t>
              </a:r>
              <a:endParaRPr lang="en-US" sz="2000" b="0">
                <a:latin typeface="Arial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37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37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37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37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3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9" dur="500"/>
                                        <p:tgtEl>
                                          <p:spTgt spid="33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500"/>
                                        <p:tgtEl>
                                          <p:spTgt spid="33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9" dur="500"/>
                                        <p:tgtEl>
                                          <p:spTgt spid="33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4" dur="500"/>
                                        <p:tgtEl>
                                          <p:spTgt spid="33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500"/>
                                        <p:tgtEl>
                                          <p:spTgt spid="33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876" name="Object 36"/>
          <p:cNvGraphicFramePr>
            <a:graphicFrameLocks noChangeAspect="1"/>
          </p:cNvGraphicFramePr>
          <p:nvPr/>
        </p:nvGraphicFramePr>
        <p:xfrm>
          <a:off x="4859338" y="2890838"/>
          <a:ext cx="4105275" cy="3922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92" name="Bitmap Image" r:id="rId3" imgW="4761905" imgH="4439270" progId="Paint.Picture">
                  <p:embed/>
                </p:oleObj>
              </mc:Choice>
              <mc:Fallback>
                <p:oleObj name="Bitmap Image" r:id="rId3" imgW="4761905" imgH="4439270" progId="Paint.Picture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2890838"/>
                        <a:ext cx="4105275" cy="3922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69" name="Object 29"/>
          <p:cNvGraphicFramePr>
            <a:graphicFrameLocks noChangeAspect="1"/>
          </p:cNvGraphicFramePr>
          <p:nvPr/>
        </p:nvGraphicFramePr>
        <p:xfrm>
          <a:off x="717550" y="3213100"/>
          <a:ext cx="2714625" cy="1381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93" name="Bitmap Image" r:id="rId5" imgW="2715004" imgH="1380952" progId="Paint.Picture">
                  <p:embed/>
                </p:oleObj>
              </mc:Choice>
              <mc:Fallback>
                <p:oleObj name="Bitmap Image" r:id="rId5" imgW="2715004" imgH="1380952" progId="Paint.Picture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550" y="3213100"/>
                        <a:ext cx="2714625" cy="1381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863" name="Group 23"/>
          <p:cNvGrpSpPr>
            <a:grpSpLocks/>
          </p:cNvGrpSpPr>
          <p:nvPr/>
        </p:nvGrpSpPr>
        <p:grpSpPr bwMode="auto">
          <a:xfrm>
            <a:off x="457200" y="152400"/>
            <a:ext cx="7620000" cy="825500"/>
            <a:chOff x="288" y="96"/>
            <a:chExt cx="4800" cy="520"/>
          </a:xfrm>
        </p:grpSpPr>
        <p:sp>
          <p:nvSpPr>
            <p:cNvPr id="35843" name="Text Box 3"/>
            <p:cNvSpPr txBox="1">
              <a:spLocks noChangeArrowheads="1"/>
            </p:cNvSpPr>
            <p:nvPr/>
          </p:nvSpPr>
          <p:spPr bwMode="auto">
            <a:xfrm>
              <a:off x="720" y="96"/>
              <a:ext cx="4368" cy="5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pt-PT" sz="1600" b="0">
                  <a:latin typeface="Arial" charset="0"/>
                </a:rPr>
                <a:t>Suponhamos que precisamos de utilizar o circuito construído no nível superior de hierarquia. Para tal será necessário criar um símbolo para o nosso circuito para podermos posteriormente instanciá-lo.</a:t>
              </a:r>
              <a:endParaRPr lang="en-US" sz="1600" b="0">
                <a:latin typeface="Arial" charset="0"/>
              </a:endParaRPr>
            </a:p>
          </p:txBody>
        </p:sp>
        <p:sp>
          <p:nvSpPr>
            <p:cNvPr id="35845" name="Oval 5"/>
            <p:cNvSpPr>
              <a:spLocks noChangeArrowheads="1"/>
            </p:cNvSpPr>
            <p:nvPr/>
          </p:nvSpPr>
          <p:spPr bwMode="auto">
            <a:xfrm>
              <a:off x="288" y="144"/>
              <a:ext cx="288" cy="288"/>
            </a:xfrm>
            <a:prstGeom prst="ellipse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pt-PT" sz="2000" b="0">
                  <a:latin typeface="Arial" charset="0"/>
                </a:rPr>
                <a:t>4</a:t>
              </a:r>
              <a:endParaRPr lang="en-US" sz="2000" b="0">
                <a:latin typeface="Arial" charset="0"/>
              </a:endParaRPr>
            </a:p>
          </p:txBody>
        </p:sp>
      </p:grpSp>
      <p:grpSp>
        <p:nvGrpSpPr>
          <p:cNvPr id="35864" name="Group 24"/>
          <p:cNvGrpSpPr>
            <a:grpSpLocks/>
          </p:cNvGrpSpPr>
          <p:nvPr/>
        </p:nvGrpSpPr>
        <p:grpSpPr bwMode="auto">
          <a:xfrm>
            <a:off x="457200" y="1066800"/>
            <a:ext cx="7620000" cy="581025"/>
            <a:chOff x="288" y="672"/>
            <a:chExt cx="4800" cy="366"/>
          </a:xfrm>
        </p:grpSpPr>
        <p:sp>
          <p:nvSpPr>
            <p:cNvPr id="35846" name="Text Box 6"/>
            <p:cNvSpPr txBox="1">
              <a:spLocks noChangeArrowheads="1"/>
            </p:cNvSpPr>
            <p:nvPr/>
          </p:nvSpPr>
          <p:spPr bwMode="auto">
            <a:xfrm>
              <a:off x="720" y="672"/>
              <a:ext cx="4368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pt-PT" sz="1600" b="0" dirty="0">
                  <a:latin typeface="Arial" charset="0"/>
                </a:rPr>
                <a:t>A estrategia de </a:t>
              </a:r>
              <a:r>
                <a:rPr lang="pt-PT" sz="1600" b="0" dirty="0" smtClean="0">
                  <a:latin typeface="Arial" charset="0"/>
                </a:rPr>
                <a:t>projeto</a:t>
              </a:r>
              <a:r>
                <a:rPr lang="pt-PT" sz="1600" b="0" dirty="0">
                  <a:latin typeface="Arial" charset="0"/>
                </a:rPr>
                <a:t>, na qual primeiro </a:t>
              </a:r>
              <a:r>
                <a:rPr lang="pt-PT" sz="1600" b="0" dirty="0" smtClean="0">
                  <a:latin typeface="Arial" charset="0"/>
                </a:rPr>
                <a:t>projeta-se </a:t>
              </a:r>
              <a:r>
                <a:rPr lang="pt-PT" sz="1600" b="0" dirty="0">
                  <a:latin typeface="Arial" charset="0"/>
                </a:rPr>
                <a:t>um sub-circuito e só depois se cria um símbolo para ele, é conhecida sob o nome </a:t>
              </a:r>
              <a:r>
                <a:rPr lang="pt-PT" sz="1600" b="0" i="1" dirty="0">
                  <a:solidFill>
                    <a:srgbClr val="333399"/>
                  </a:solidFill>
                  <a:latin typeface="Arial" charset="0"/>
                </a:rPr>
                <a:t>bottom-up</a:t>
              </a:r>
              <a:endParaRPr lang="en-US" sz="1600" b="0" dirty="0">
                <a:latin typeface="Arial" charset="0"/>
              </a:endParaRPr>
            </a:p>
          </p:txBody>
        </p:sp>
        <p:sp>
          <p:nvSpPr>
            <p:cNvPr id="35847" name="Oval 7"/>
            <p:cNvSpPr>
              <a:spLocks noChangeArrowheads="1"/>
            </p:cNvSpPr>
            <p:nvPr/>
          </p:nvSpPr>
          <p:spPr bwMode="auto">
            <a:xfrm>
              <a:off x="288" y="720"/>
              <a:ext cx="288" cy="288"/>
            </a:xfrm>
            <a:prstGeom prst="ellipse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pt-PT" sz="2000" b="0">
                  <a:latin typeface="Arial" charset="0"/>
                </a:rPr>
                <a:t>5</a:t>
              </a:r>
              <a:endParaRPr lang="en-US" sz="2000" b="0">
                <a:latin typeface="Arial" charset="0"/>
              </a:endParaRPr>
            </a:p>
          </p:txBody>
        </p:sp>
      </p:grpSp>
      <p:grpSp>
        <p:nvGrpSpPr>
          <p:cNvPr id="35875" name="Group 35"/>
          <p:cNvGrpSpPr>
            <a:grpSpLocks/>
          </p:cNvGrpSpPr>
          <p:nvPr/>
        </p:nvGrpSpPr>
        <p:grpSpPr bwMode="auto">
          <a:xfrm>
            <a:off x="474663" y="1773238"/>
            <a:ext cx="5105400" cy="2232025"/>
            <a:chOff x="299" y="1117"/>
            <a:chExt cx="3216" cy="1406"/>
          </a:xfrm>
        </p:grpSpPr>
        <p:sp>
          <p:nvSpPr>
            <p:cNvPr id="35849" name="Text Box 9"/>
            <p:cNvSpPr txBox="1">
              <a:spLocks noChangeArrowheads="1"/>
            </p:cNvSpPr>
            <p:nvPr/>
          </p:nvSpPr>
          <p:spPr bwMode="auto">
            <a:xfrm>
              <a:off x="731" y="1117"/>
              <a:ext cx="2784" cy="9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pt-PT" sz="1600" b="0" dirty="0">
                  <a:latin typeface="Arial" charset="0"/>
                </a:rPr>
                <a:t>Para criar um símbolo novo (de maneira mais simples), feche todos os ficheiros abertos, </a:t>
              </a:r>
              <a:r>
                <a:rPr lang="pt-PT" sz="1600" b="0" dirty="0" smtClean="0">
                  <a:latin typeface="Arial" charset="0"/>
                </a:rPr>
                <a:t>selecione </a:t>
              </a:r>
              <a:r>
                <a:rPr lang="pt-PT" sz="1600" b="0" dirty="0">
                  <a:latin typeface="Arial" charset="0"/>
                </a:rPr>
                <a:t>a opção do menu </a:t>
              </a:r>
              <a:r>
                <a:rPr lang="pt-PT" sz="1600" b="0" i="1" dirty="0">
                  <a:latin typeface="Arial" charset="0"/>
                </a:rPr>
                <a:t>File -&gt; New </a:t>
              </a:r>
              <a:r>
                <a:rPr lang="pt-PT" sz="1600" b="0" dirty="0">
                  <a:latin typeface="Arial" charset="0"/>
                </a:rPr>
                <a:t>e na janela de diálogo que aparecerá escolhe a opção </a:t>
              </a:r>
              <a:r>
                <a:rPr lang="pt-PT" sz="1600" b="0" i="1" dirty="0">
                  <a:latin typeface="Arial" charset="0"/>
                </a:rPr>
                <a:t>Model Wizard</a:t>
              </a:r>
            </a:p>
            <a:p>
              <a:pPr algn="l"/>
              <a:endParaRPr lang="en-US" sz="1600" b="0" dirty="0">
                <a:latin typeface="Arial" charset="0"/>
              </a:endParaRPr>
            </a:p>
          </p:txBody>
        </p:sp>
        <p:sp>
          <p:nvSpPr>
            <p:cNvPr id="35854" name="Line 14"/>
            <p:cNvSpPr>
              <a:spLocks noChangeShapeType="1"/>
            </p:cNvSpPr>
            <p:nvPr/>
          </p:nvSpPr>
          <p:spPr bwMode="auto">
            <a:xfrm>
              <a:off x="443" y="1536"/>
              <a:ext cx="96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5855" name="Line 15"/>
            <p:cNvSpPr>
              <a:spLocks noChangeShapeType="1"/>
            </p:cNvSpPr>
            <p:nvPr/>
          </p:nvSpPr>
          <p:spPr bwMode="auto">
            <a:xfrm>
              <a:off x="443" y="1536"/>
              <a:ext cx="690" cy="9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5850" name="Oval 10"/>
            <p:cNvSpPr>
              <a:spLocks noChangeArrowheads="1"/>
            </p:cNvSpPr>
            <p:nvPr/>
          </p:nvSpPr>
          <p:spPr bwMode="auto">
            <a:xfrm>
              <a:off x="299" y="1278"/>
              <a:ext cx="288" cy="288"/>
            </a:xfrm>
            <a:prstGeom prst="ellipse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pt-PT" sz="2000" b="0">
                  <a:latin typeface="Arial" charset="0"/>
                </a:rPr>
                <a:t>6</a:t>
              </a:r>
              <a:endParaRPr lang="en-US" sz="2000" b="0">
                <a:latin typeface="Arial" charset="0"/>
              </a:endParaRPr>
            </a:p>
          </p:txBody>
        </p:sp>
      </p:grpSp>
      <p:grpSp>
        <p:nvGrpSpPr>
          <p:cNvPr id="35877" name="Group 37"/>
          <p:cNvGrpSpPr>
            <a:grpSpLocks/>
          </p:cNvGrpSpPr>
          <p:nvPr/>
        </p:nvGrpSpPr>
        <p:grpSpPr bwMode="auto">
          <a:xfrm>
            <a:off x="485775" y="4244975"/>
            <a:ext cx="4733925" cy="2279650"/>
            <a:chOff x="306" y="2674"/>
            <a:chExt cx="2982" cy="1436"/>
          </a:xfrm>
        </p:grpSpPr>
        <p:sp>
          <p:nvSpPr>
            <p:cNvPr id="35859" name="Oval 19"/>
            <p:cNvSpPr>
              <a:spLocks noChangeArrowheads="1"/>
            </p:cNvSpPr>
            <p:nvPr/>
          </p:nvSpPr>
          <p:spPr bwMode="auto">
            <a:xfrm>
              <a:off x="2365" y="2992"/>
              <a:ext cx="288" cy="288"/>
            </a:xfrm>
            <a:prstGeom prst="ellipse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pt-PT" sz="2000" b="0">
                  <a:latin typeface="Arial" charset="0"/>
                </a:rPr>
                <a:t>7</a:t>
              </a:r>
              <a:endParaRPr lang="en-US" sz="2000" b="0">
                <a:latin typeface="Arial" charset="0"/>
              </a:endParaRPr>
            </a:p>
          </p:txBody>
        </p:sp>
        <p:sp>
          <p:nvSpPr>
            <p:cNvPr id="35860" name="Text Box 20"/>
            <p:cNvSpPr txBox="1">
              <a:spLocks noChangeArrowheads="1"/>
            </p:cNvSpPr>
            <p:nvPr/>
          </p:nvSpPr>
          <p:spPr bwMode="auto">
            <a:xfrm>
              <a:off x="306" y="3128"/>
              <a:ext cx="2256" cy="9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pt-PT" sz="1600" b="0">
                  <a:latin typeface="Arial" charset="0"/>
                </a:rPr>
                <a:t>Na janela de diálogo que vai aparecer escolhe as opções </a:t>
              </a:r>
              <a:r>
                <a:rPr lang="pt-PT" sz="1600" b="0" i="1">
                  <a:latin typeface="Arial" charset="0"/>
                </a:rPr>
                <a:t>Select an existing file</a:t>
              </a:r>
              <a:r>
                <a:rPr lang="pt-PT" sz="1600" b="0">
                  <a:latin typeface="Arial" charset="0"/>
                </a:rPr>
                <a:t> (aponte para o circuito my_xor.cct com a ajuda do botão </a:t>
              </a:r>
              <a:r>
                <a:rPr lang="pt-PT" sz="1600" b="0" i="1">
                  <a:latin typeface="Arial" charset="0"/>
                </a:rPr>
                <a:t>Browse...</a:t>
              </a:r>
              <a:r>
                <a:rPr lang="pt-PT" sz="1600" b="0">
                  <a:latin typeface="Arial" charset="0"/>
                </a:rPr>
                <a:t>)</a:t>
              </a:r>
              <a:r>
                <a:rPr lang="pt-PT" sz="1600" b="0" i="1">
                  <a:latin typeface="Arial" charset="0"/>
                </a:rPr>
                <a:t> </a:t>
              </a:r>
              <a:r>
                <a:rPr lang="pt-PT" sz="1600" b="0">
                  <a:latin typeface="Arial" charset="0"/>
                </a:rPr>
                <a:t>e</a:t>
              </a:r>
              <a:r>
                <a:rPr lang="pt-PT" sz="1600" b="0" i="1">
                  <a:latin typeface="Arial" charset="0"/>
                </a:rPr>
                <a:t> Create a new symbol with the specified model attached</a:t>
              </a:r>
              <a:endParaRPr lang="en-US" sz="1600" b="0">
                <a:latin typeface="Arial" charset="0"/>
              </a:endParaRPr>
            </a:p>
          </p:txBody>
        </p:sp>
        <p:sp>
          <p:nvSpPr>
            <p:cNvPr id="35872" name="Line 32"/>
            <p:cNvSpPr>
              <a:spLocks noChangeShapeType="1"/>
            </p:cNvSpPr>
            <p:nvPr/>
          </p:nvSpPr>
          <p:spPr bwMode="auto">
            <a:xfrm flipV="1">
              <a:off x="2653" y="2674"/>
              <a:ext cx="635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5873" name="Line 33"/>
            <p:cNvSpPr>
              <a:spLocks noChangeShapeType="1"/>
            </p:cNvSpPr>
            <p:nvPr/>
          </p:nvSpPr>
          <p:spPr bwMode="auto">
            <a:xfrm>
              <a:off x="2646" y="3089"/>
              <a:ext cx="642" cy="5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35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35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7" dur="500"/>
                                        <p:tgtEl>
                                          <p:spTgt spid="35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5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5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0" dur="500"/>
                                        <p:tgtEl>
                                          <p:spTgt spid="35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084" name="Object 28"/>
          <p:cNvGraphicFramePr>
            <a:graphicFrameLocks noChangeAspect="1"/>
          </p:cNvGraphicFramePr>
          <p:nvPr/>
        </p:nvGraphicFramePr>
        <p:xfrm>
          <a:off x="4716463" y="1557338"/>
          <a:ext cx="4330700" cy="4011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08" name="Bitmap Image" r:id="rId3" imgW="4772691" imgH="4420217" progId="Paint.Picture">
                  <p:embed/>
                </p:oleObj>
              </mc:Choice>
              <mc:Fallback>
                <p:oleObj name="Bitmap Image" r:id="rId3" imgW="4772691" imgH="4420217" progId="Paint.Picture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463" y="1557338"/>
                        <a:ext cx="4330700" cy="4011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3" name="Object 7"/>
          <p:cNvGraphicFramePr>
            <a:graphicFrameLocks noChangeAspect="1"/>
          </p:cNvGraphicFramePr>
          <p:nvPr/>
        </p:nvGraphicFramePr>
        <p:xfrm>
          <a:off x="107950" y="1557338"/>
          <a:ext cx="4319588" cy="402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09" name="Bitmap Image" r:id="rId5" imgW="4761905" imgH="4439270" progId="Paint.Picture">
                  <p:embed/>
                </p:oleObj>
              </mc:Choice>
              <mc:Fallback>
                <p:oleObj name="Bitmap Image" r:id="rId5" imgW="4761905" imgH="4439270" progId="Paint.Picture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50" y="1557338"/>
                        <a:ext cx="4319588" cy="402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5087" name="Group 31"/>
          <p:cNvGrpSpPr>
            <a:grpSpLocks/>
          </p:cNvGrpSpPr>
          <p:nvPr/>
        </p:nvGrpSpPr>
        <p:grpSpPr bwMode="auto">
          <a:xfrm>
            <a:off x="466725" y="442913"/>
            <a:ext cx="3457575" cy="1833562"/>
            <a:chOff x="294" y="279"/>
            <a:chExt cx="2178" cy="1155"/>
          </a:xfrm>
        </p:grpSpPr>
        <p:sp>
          <p:nvSpPr>
            <p:cNvPr id="45064" name="Text Box 8"/>
            <p:cNvSpPr txBox="1">
              <a:spLocks noChangeArrowheads="1"/>
            </p:cNvSpPr>
            <p:nvPr/>
          </p:nvSpPr>
          <p:spPr bwMode="auto">
            <a:xfrm>
              <a:off x="476" y="279"/>
              <a:ext cx="1996" cy="5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pt-PT" sz="1600" b="0" dirty="0">
                  <a:latin typeface="Arial" charset="0"/>
                </a:rPr>
                <a:t>Na janela de diálogo seguinte </a:t>
              </a:r>
              <a:r>
                <a:rPr lang="pt-PT" sz="1600" b="0" dirty="0" smtClean="0">
                  <a:latin typeface="Arial" charset="0"/>
                </a:rPr>
                <a:t>selecione </a:t>
              </a:r>
              <a:r>
                <a:rPr lang="pt-PT" sz="1600" b="0" dirty="0">
                  <a:latin typeface="Arial" charset="0"/>
                </a:rPr>
                <a:t>a opção </a:t>
              </a:r>
              <a:r>
                <a:rPr lang="pt-PT" sz="1600" b="0" i="1" dirty="0">
                  <a:latin typeface="Arial" charset="0"/>
                </a:rPr>
                <a:t>External Structural Circuit</a:t>
              </a:r>
              <a:endParaRPr lang="en-US" sz="1600" b="0" dirty="0">
                <a:latin typeface="Arial" charset="0"/>
              </a:endParaRPr>
            </a:p>
          </p:txBody>
        </p:sp>
        <p:sp>
          <p:nvSpPr>
            <p:cNvPr id="45069" name="Oval 13"/>
            <p:cNvSpPr>
              <a:spLocks noChangeArrowheads="1"/>
            </p:cNvSpPr>
            <p:nvPr/>
          </p:nvSpPr>
          <p:spPr bwMode="auto">
            <a:xfrm>
              <a:off x="294" y="279"/>
              <a:ext cx="288" cy="288"/>
            </a:xfrm>
            <a:prstGeom prst="ellipse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pt-PT" sz="2000" b="0">
                  <a:latin typeface="Arial" charset="0"/>
                </a:rPr>
                <a:t>8</a:t>
              </a:r>
              <a:endParaRPr lang="en-US" sz="2000" b="0">
                <a:latin typeface="Arial" charset="0"/>
              </a:endParaRPr>
            </a:p>
          </p:txBody>
        </p:sp>
        <p:sp>
          <p:nvSpPr>
            <p:cNvPr id="45070" name="Line 14"/>
            <p:cNvSpPr>
              <a:spLocks noChangeShapeType="1"/>
            </p:cNvSpPr>
            <p:nvPr/>
          </p:nvSpPr>
          <p:spPr bwMode="auto">
            <a:xfrm>
              <a:off x="431" y="572"/>
              <a:ext cx="589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5088" name="Group 32"/>
          <p:cNvGrpSpPr>
            <a:grpSpLocks/>
          </p:cNvGrpSpPr>
          <p:nvPr/>
        </p:nvGrpSpPr>
        <p:grpSpPr bwMode="auto">
          <a:xfrm>
            <a:off x="395288" y="5445125"/>
            <a:ext cx="2808287" cy="1104900"/>
            <a:chOff x="249" y="3430"/>
            <a:chExt cx="1769" cy="696"/>
          </a:xfrm>
        </p:grpSpPr>
        <p:sp>
          <p:nvSpPr>
            <p:cNvPr id="45080" name="Oval 24"/>
            <p:cNvSpPr>
              <a:spLocks noChangeArrowheads="1"/>
            </p:cNvSpPr>
            <p:nvPr/>
          </p:nvSpPr>
          <p:spPr bwMode="auto">
            <a:xfrm>
              <a:off x="1565" y="3838"/>
              <a:ext cx="288" cy="288"/>
            </a:xfrm>
            <a:prstGeom prst="ellipse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pt-PT" sz="2000" b="0">
                  <a:latin typeface="Arial" charset="0"/>
                </a:rPr>
                <a:t>9</a:t>
              </a:r>
              <a:endParaRPr lang="en-US" sz="2000" b="0">
                <a:latin typeface="Arial" charset="0"/>
              </a:endParaRPr>
            </a:p>
          </p:txBody>
        </p:sp>
        <p:sp>
          <p:nvSpPr>
            <p:cNvPr id="45081" name="Line 25"/>
            <p:cNvSpPr>
              <a:spLocks noChangeShapeType="1"/>
            </p:cNvSpPr>
            <p:nvPr/>
          </p:nvSpPr>
          <p:spPr bwMode="auto">
            <a:xfrm flipV="1">
              <a:off x="1701" y="3430"/>
              <a:ext cx="317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5082" name="Text Box 26"/>
            <p:cNvSpPr txBox="1">
              <a:spLocks noChangeArrowheads="1"/>
            </p:cNvSpPr>
            <p:nvPr/>
          </p:nvSpPr>
          <p:spPr bwMode="auto">
            <a:xfrm>
              <a:off x="249" y="3884"/>
              <a:ext cx="136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pt-PT" sz="1600" b="0">
                  <a:latin typeface="Arial" charset="0"/>
                </a:rPr>
                <a:t>Carregue em </a:t>
              </a:r>
              <a:r>
                <a:rPr lang="pt-PT" sz="1600" b="0" i="1">
                  <a:latin typeface="Arial" charset="0"/>
                </a:rPr>
                <a:t>Next &gt;</a:t>
              </a:r>
              <a:endParaRPr lang="en-US" sz="1600" b="0" i="1">
                <a:latin typeface="Arial" charset="0"/>
              </a:endParaRPr>
            </a:p>
          </p:txBody>
        </p:sp>
      </p:grpSp>
      <p:grpSp>
        <p:nvGrpSpPr>
          <p:cNvPr id="45090" name="Group 34"/>
          <p:cNvGrpSpPr>
            <a:grpSpLocks/>
          </p:cNvGrpSpPr>
          <p:nvPr/>
        </p:nvGrpSpPr>
        <p:grpSpPr bwMode="auto">
          <a:xfrm>
            <a:off x="4500563" y="4365625"/>
            <a:ext cx="3984625" cy="2308225"/>
            <a:chOff x="2835" y="2750"/>
            <a:chExt cx="2510" cy="1454"/>
          </a:xfrm>
        </p:grpSpPr>
        <p:sp>
          <p:nvSpPr>
            <p:cNvPr id="45076" name="Oval 20"/>
            <p:cNvSpPr>
              <a:spLocks noChangeArrowheads="1"/>
            </p:cNvSpPr>
            <p:nvPr/>
          </p:nvSpPr>
          <p:spPr bwMode="auto">
            <a:xfrm>
              <a:off x="5057" y="3838"/>
              <a:ext cx="288" cy="288"/>
            </a:xfrm>
            <a:prstGeom prst="ellipse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pt-PT" sz="2000" b="0">
                  <a:latin typeface="Arial" charset="0"/>
                </a:rPr>
                <a:t>11</a:t>
              </a:r>
              <a:endParaRPr lang="en-US" sz="2000" b="0">
                <a:latin typeface="Arial" charset="0"/>
              </a:endParaRPr>
            </a:p>
          </p:txBody>
        </p:sp>
        <p:sp>
          <p:nvSpPr>
            <p:cNvPr id="45077" name="Text Box 21"/>
            <p:cNvSpPr txBox="1">
              <a:spLocks noChangeArrowheads="1"/>
            </p:cNvSpPr>
            <p:nvPr/>
          </p:nvSpPr>
          <p:spPr bwMode="auto">
            <a:xfrm>
              <a:off x="2835" y="3838"/>
              <a:ext cx="2301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pt-PT" sz="1600" b="0">
                  <a:latin typeface="Arial" charset="0"/>
                </a:rPr>
                <a:t>Pode alterar o nome do símbolo e carregue no botão </a:t>
              </a:r>
              <a:r>
                <a:rPr lang="pt-PT" sz="1600" b="0" i="1">
                  <a:latin typeface="Arial" charset="0"/>
                </a:rPr>
                <a:t>Next &gt;</a:t>
              </a:r>
              <a:endParaRPr lang="en-US" sz="1600" b="0" i="1">
                <a:latin typeface="Arial" charset="0"/>
              </a:endParaRPr>
            </a:p>
          </p:txBody>
        </p:sp>
        <p:sp>
          <p:nvSpPr>
            <p:cNvPr id="45085" name="Line 29"/>
            <p:cNvSpPr>
              <a:spLocks noChangeShapeType="1"/>
            </p:cNvSpPr>
            <p:nvPr/>
          </p:nvSpPr>
          <p:spPr bwMode="auto">
            <a:xfrm flipH="1" flipV="1">
              <a:off x="5012" y="3430"/>
              <a:ext cx="181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5086" name="Line 30"/>
            <p:cNvSpPr>
              <a:spLocks noChangeShapeType="1"/>
            </p:cNvSpPr>
            <p:nvPr/>
          </p:nvSpPr>
          <p:spPr bwMode="auto">
            <a:xfrm flipV="1">
              <a:off x="5193" y="2750"/>
              <a:ext cx="0" cy="10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5093" name="Group 37"/>
          <p:cNvGrpSpPr>
            <a:grpSpLocks/>
          </p:cNvGrpSpPr>
          <p:nvPr/>
        </p:nvGrpSpPr>
        <p:grpSpPr bwMode="auto">
          <a:xfrm>
            <a:off x="4787900" y="355600"/>
            <a:ext cx="4038600" cy="2209800"/>
            <a:chOff x="3016" y="224"/>
            <a:chExt cx="2544" cy="1392"/>
          </a:xfrm>
        </p:grpSpPr>
        <p:sp>
          <p:nvSpPr>
            <p:cNvPr id="45072" name="Text Box 16"/>
            <p:cNvSpPr txBox="1">
              <a:spLocks noChangeArrowheads="1"/>
            </p:cNvSpPr>
            <p:nvPr/>
          </p:nvSpPr>
          <p:spPr bwMode="auto">
            <a:xfrm>
              <a:off x="3448" y="224"/>
              <a:ext cx="2112" cy="6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pt-PT" sz="1600" b="0">
                  <a:latin typeface="Arial" charset="0"/>
                </a:rPr>
                <a:t>Repare que os pinos de entrada/saída que correspondem às portas de entrada/saída do nosso circuito apareceram na lista:</a:t>
              </a:r>
              <a:endParaRPr lang="en-US" sz="1600" b="0">
                <a:latin typeface="Arial" charset="0"/>
              </a:endParaRPr>
            </a:p>
          </p:txBody>
        </p:sp>
        <p:sp>
          <p:nvSpPr>
            <p:cNvPr id="45073" name="Line 17"/>
            <p:cNvSpPr>
              <a:spLocks noChangeShapeType="1"/>
            </p:cNvSpPr>
            <p:nvPr/>
          </p:nvSpPr>
          <p:spPr bwMode="auto">
            <a:xfrm>
              <a:off x="3152" y="527"/>
              <a:ext cx="318" cy="10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5074" name="Oval 18"/>
            <p:cNvSpPr>
              <a:spLocks noChangeArrowheads="1"/>
            </p:cNvSpPr>
            <p:nvPr/>
          </p:nvSpPr>
          <p:spPr bwMode="auto">
            <a:xfrm>
              <a:off x="3016" y="272"/>
              <a:ext cx="288" cy="288"/>
            </a:xfrm>
            <a:prstGeom prst="ellipse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pt-PT" sz="2000" b="0">
                  <a:latin typeface="Arial" charset="0"/>
                </a:rPr>
                <a:t>10</a:t>
              </a:r>
              <a:endParaRPr lang="en-US" sz="2000" b="0">
                <a:latin typeface="Arial" charset="0"/>
              </a:endParaRPr>
            </a:p>
          </p:txBody>
        </p:sp>
        <p:sp>
          <p:nvSpPr>
            <p:cNvPr id="45091" name="Rectangle 35"/>
            <p:cNvSpPr>
              <a:spLocks noChangeArrowheads="1"/>
            </p:cNvSpPr>
            <p:nvPr/>
          </p:nvSpPr>
          <p:spPr bwMode="auto">
            <a:xfrm>
              <a:off x="5103" y="1524"/>
              <a:ext cx="91" cy="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cxnSp>
          <p:nvCxnSpPr>
            <p:cNvPr id="45092" name="AutoShape 36"/>
            <p:cNvCxnSpPr>
              <a:cxnSpLocks noChangeShapeType="1"/>
              <a:stCxn id="45074" idx="4"/>
              <a:endCxn id="45091" idx="0"/>
            </p:cNvCxnSpPr>
            <p:nvPr/>
          </p:nvCxnSpPr>
          <p:spPr bwMode="auto">
            <a:xfrm rot="16200000" flipH="1">
              <a:off x="3673" y="47"/>
              <a:ext cx="964" cy="1989"/>
            </a:xfrm>
            <a:prstGeom prst="curved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5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" dur="500"/>
                                        <p:tgtEl>
                                          <p:spTgt spid="45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500"/>
                                        <p:tgtEl>
                                          <p:spTgt spid="45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5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5" dur="500"/>
                                        <p:tgtEl>
                                          <p:spTgt spid="45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0" dur="500"/>
                                        <p:tgtEl>
                                          <p:spTgt spid="45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117" name="Object 37"/>
          <p:cNvGraphicFramePr>
            <a:graphicFrameLocks noChangeAspect="1"/>
          </p:cNvGraphicFramePr>
          <p:nvPr/>
        </p:nvGraphicFramePr>
        <p:xfrm>
          <a:off x="4787900" y="404813"/>
          <a:ext cx="4176713" cy="3916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39" name="Bitmap Image" r:id="rId3" imgW="4734586" imgH="4439270" progId="Paint.Picture">
                  <p:embed/>
                </p:oleObj>
              </mc:Choice>
              <mc:Fallback>
                <p:oleObj name="Bitmap Image" r:id="rId3" imgW="4734586" imgH="4439270" progId="Paint.Picture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404813"/>
                        <a:ext cx="4176713" cy="3916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6086" name="Group 6"/>
          <p:cNvGrpSpPr>
            <a:grpSpLocks/>
          </p:cNvGrpSpPr>
          <p:nvPr/>
        </p:nvGrpSpPr>
        <p:grpSpPr bwMode="auto">
          <a:xfrm>
            <a:off x="323850" y="228600"/>
            <a:ext cx="4191000" cy="581025"/>
            <a:chOff x="2880" y="144"/>
            <a:chExt cx="2640" cy="366"/>
          </a:xfrm>
        </p:grpSpPr>
        <p:sp>
          <p:nvSpPr>
            <p:cNvPr id="46087" name="Text Box 7"/>
            <p:cNvSpPr txBox="1">
              <a:spLocks noChangeArrowheads="1"/>
            </p:cNvSpPr>
            <p:nvPr/>
          </p:nvSpPr>
          <p:spPr bwMode="auto">
            <a:xfrm>
              <a:off x="3312" y="144"/>
              <a:ext cx="2208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pt-PT" sz="1600" b="0">
                  <a:latin typeface="Arial" charset="0"/>
                </a:rPr>
                <a:t>Para poder utilizar o símbolo criado deve guardá-lo numa biblioteca</a:t>
              </a:r>
              <a:endParaRPr lang="en-US" sz="1600" b="0">
                <a:latin typeface="Arial" charset="0"/>
              </a:endParaRPr>
            </a:p>
          </p:txBody>
        </p:sp>
        <p:sp>
          <p:nvSpPr>
            <p:cNvPr id="46088" name="Oval 8"/>
            <p:cNvSpPr>
              <a:spLocks noChangeArrowheads="1"/>
            </p:cNvSpPr>
            <p:nvPr/>
          </p:nvSpPr>
          <p:spPr bwMode="auto">
            <a:xfrm>
              <a:off x="2880" y="192"/>
              <a:ext cx="288" cy="288"/>
            </a:xfrm>
            <a:prstGeom prst="ellipse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pt-PT" sz="2000" b="0">
                  <a:latin typeface="Arial" charset="0"/>
                </a:rPr>
                <a:t>12</a:t>
              </a:r>
              <a:endParaRPr lang="en-US" sz="2000" b="0">
                <a:latin typeface="Arial" charset="0"/>
              </a:endParaRPr>
            </a:p>
          </p:txBody>
        </p:sp>
      </p:grpSp>
      <p:grpSp>
        <p:nvGrpSpPr>
          <p:cNvPr id="46104" name="Group 24"/>
          <p:cNvGrpSpPr>
            <a:grpSpLocks/>
          </p:cNvGrpSpPr>
          <p:nvPr/>
        </p:nvGrpSpPr>
        <p:grpSpPr bwMode="auto">
          <a:xfrm>
            <a:off x="5916613" y="4464050"/>
            <a:ext cx="3048000" cy="2060575"/>
            <a:chOff x="1584" y="2784"/>
            <a:chExt cx="1920" cy="1298"/>
          </a:xfrm>
        </p:grpSpPr>
        <p:sp>
          <p:nvSpPr>
            <p:cNvPr id="46105" name="Text Box 25"/>
            <p:cNvSpPr txBox="1">
              <a:spLocks noChangeArrowheads="1"/>
            </p:cNvSpPr>
            <p:nvPr/>
          </p:nvSpPr>
          <p:spPr bwMode="auto">
            <a:xfrm>
              <a:off x="1728" y="3408"/>
              <a:ext cx="1776" cy="6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pt-PT" sz="1600" b="0">
                  <a:latin typeface="Arial" charset="0"/>
                </a:rPr>
                <a:t>O componente </a:t>
              </a:r>
              <a:r>
                <a:rPr lang="pt-PT" sz="1600" b="0" i="1">
                  <a:latin typeface="Arial" charset="0"/>
                </a:rPr>
                <a:t>my_xor </a:t>
              </a:r>
              <a:r>
                <a:rPr lang="pt-PT" sz="1600" b="0">
                  <a:latin typeface="Arial" charset="0"/>
                </a:rPr>
                <a:t>pode ser utilizado no esquemático possibilitando deste modo a especificação hierárquica</a:t>
              </a:r>
              <a:endParaRPr lang="en-US" sz="1600" b="0" i="1">
                <a:latin typeface="Arial" charset="0"/>
              </a:endParaRPr>
            </a:p>
          </p:txBody>
        </p:sp>
        <p:sp>
          <p:nvSpPr>
            <p:cNvPr id="46106" name="Line 26"/>
            <p:cNvSpPr>
              <a:spLocks noChangeShapeType="1"/>
            </p:cNvSpPr>
            <p:nvPr/>
          </p:nvSpPr>
          <p:spPr bwMode="auto">
            <a:xfrm flipH="1">
              <a:off x="1584" y="2976"/>
              <a:ext cx="576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6107" name="Oval 27"/>
            <p:cNvSpPr>
              <a:spLocks noChangeArrowheads="1"/>
            </p:cNvSpPr>
            <p:nvPr/>
          </p:nvSpPr>
          <p:spPr bwMode="auto">
            <a:xfrm>
              <a:off x="2112" y="2784"/>
              <a:ext cx="288" cy="288"/>
            </a:xfrm>
            <a:prstGeom prst="ellipse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pt-PT" sz="2000" b="0">
                  <a:latin typeface="Arial" charset="0"/>
                </a:rPr>
                <a:t>15</a:t>
              </a:r>
              <a:endParaRPr lang="en-US" sz="2000" b="0">
                <a:latin typeface="Arial" charset="0"/>
              </a:endParaRPr>
            </a:p>
          </p:txBody>
        </p:sp>
      </p:grpSp>
      <p:grpSp>
        <p:nvGrpSpPr>
          <p:cNvPr id="46113" name="Group 33"/>
          <p:cNvGrpSpPr>
            <a:grpSpLocks/>
          </p:cNvGrpSpPr>
          <p:nvPr/>
        </p:nvGrpSpPr>
        <p:grpSpPr bwMode="auto">
          <a:xfrm>
            <a:off x="323850" y="1125538"/>
            <a:ext cx="4608513" cy="1150937"/>
            <a:chOff x="204" y="709"/>
            <a:chExt cx="2903" cy="725"/>
          </a:xfrm>
        </p:grpSpPr>
        <p:sp>
          <p:nvSpPr>
            <p:cNvPr id="46094" name="Text Box 14"/>
            <p:cNvSpPr txBox="1">
              <a:spLocks noChangeArrowheads="1"/>
            </p:cNvSpPr>
            <p:nvPr/>
          </p:nvSpPr>
          <p:spPr bwMode="auto">
            <a:xfrm>
              <a:off x="636" y="709"/>
              <a:ext cx="2256" cy="6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pt-PT" sz="1600" b="0">
                  <a:latin typeface="Arial" charset="0"/>
                </a:rPr>
                <a:t>Na janela de diálogo que aparecerá carregue no botão </a:t>
              </a:r>
              <a:r>
                <a:rPr lang="pt-PT" sz="1600" b="0" i="1">
                  <a:latin typeface="Arial" charset="0"/>
                </a:rPr>
                <a:t>New Lib... </a:t>
              </a:r>
              <a:r>
                <a:rPr lang="pt-PT" sz="1600" b="0">
                  <a:latin typeface="Arial" charset="0"/>
                </a:rPr>
                <a:t>e crie uma biblioteca chamada, por exemplo, </a:t>
              </a:r>
              <a:r>
                <a:rPr lang="pt-PT" sz="1600" b="0" i="1">
                  <a:latin typeface="Arial" charset="0"/>
                </a:rPr>
                <a:t>my_lib.clf</a:t>
              </a:r>
              <a:endParaRPr lang="en-US" sz="1600" b="0" i="1">
                <a:latin typeface="Arial" charset="0"/>
              </a:endParaRPr>
            </a:p>
          </p:txBody>
        </p:sp>
        <p:sp>
          <p:nvSpPr>
            <p:cNvPr id="46095" name="Oval 15"/>
            <p:cNvSpPr>
              <a:spLocks noChangeArrowheads="1"/>
            </p:cNvSpPr>
            <p:nvPr/>
          </p:nvSpPr>
          <p:spPr bwMode="auto">
            <a:xfrm>
              <a:off x="204" y="802"/>
              <a:ext cx="288" cy="288"/>
            </a:xfrm>
            <a:prstGeom prst="ellipse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pt-PT" sz="2000" b="0">
                  <a:latin typeface="Arial" charset="0"/>
                </a:rPr>
                <a:t>13</a:t>
              </a:r>
              <a:endParaRPr lang="en-US" sz="2000" b="0">
                <a:latin typeface="Arial" charset="0"/>
              </a:endParaRPr>
            </a:p>
          </p:txBody>
        </p:sp>
        <p:sp>
          <p:nvSpPr>
            <p:cNvPr id="46109" name="Rectangle 29"/>
            <p:cNvSpPr>
              <a:spLocks noChangeArrowheads="1"/>
            </p:cNvSpPr>
            <p:nvPr/>
          </p:nvSpPr>
          <p:spPr bwMode="auto">
            <a:xfrm>
              <a:off x="3061" y="1389"/>
              <a:ext cx="46" cy="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cxnSp>
          <p:nvCxnSpPr>
            <p:cNvPr id="46110" name="AutoShape 30"/>
            <p:cNvCxnSpPr>
              <a:cxnSpLocks noChangeShapeType="1"/>
              <a:stCxn id="46095" idx="4"/>
              <a:endCxn id="46109" idx="2"/>
            </p:cNvCxnSpPr>
            <p:nvPr/>
          </p:nvCxnSpPr>
          <p:spPr bwMode="auto">
            <a:xfrm rot="16200000" flipH="1">
              <a:off x="1544" y="-106"/>
              <a:ext cx="344" cy="2736"/>
            </a:xfrm>
            <a:prstGeom prst="curvedConnector3">
              <a:avLst>
                <a:gd name="adj1" fmla="val 141861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aphicFrame>
        <p:nvGraphicFramePr>
          <p:cNvPr id="46111" name="Object 31"/>
          <p:cNvGraphicFramePr>
            <a:graphicFrameLocks noChangeAspect="1"/>
          </p:cNvGraphicFramePr>
          <p:nvPr/>
        </p:nvGraphicFramePr>
        <p:xfrm>
          <a:off x="1403350" y="3903663"/>
          <a:ext cx="1238250" cy="233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40" name="Bitmap Image" r:id="rId5" imgW="1238423" imgH="2333333" progId="Paint.Picture">
                  <p:embed/>
                </p:oleObj>
              </mc:Choice>
              <mc:Fallback>
                <p:oleObj name="Bitmap Image" r:id="rId5" imgW="1238423" imgH="2333333" progId="Paint.Picture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3903663"/>
                        <a:ext cx="1238250" cy="2333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12" name="Object 32"/>
          <p:cNvGraphicFramePr>
            <a:graphicFrameLocks noChangeAspect="1"/>
          </p:cNvGraphicFramePr>
          <p:nvPr/>
        </p:nvGraphicFramePr>
        <p:xfrm>
          <a:off x="3348038" y="4797425"/>
          <a:ext cx="2486025" cy="168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41" name="Bitmap Image" r:id="rId7" imgW="2486372" imgH="1685714" progId="Paint.Picture">
                  <p:embed/>
                </p:oleObj>
              </mc:Choice>
              <mc:Fallback>
                <p:oleObj name="Bitmap Image" r:id="rId7" imgW="2486372" imgH="1685714" progId="Paint.Picture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4797425"/>
                        <a:ext cx="2486025" cy="168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6116" name="Group 36"/>
          <p:cNvGrpSpPr>
            <a:grpSpLocks/>
          </p:cNvGrpSpPr>
          <p:nvPr/>
        </p:nvGrpSpPr>
        <p:grpSpPr bwMode="auto">
          <a:xfrm>
            <a:off x="369888" y="2824163"/>
            <a:ext cx="3770312" cy="3097212"/>
            <a:chOff x="233" y="1779"/>
            <a:chExt cx="2375" cy="1951"/>
          </a:xfrm>
        </p:grpSpPr>
        <p:grpSp>
          <p:nvGrpSpPr>
            <p:cNvPr id="46114" name="Group 34"/>
            <p:cNvGrpSpPr>
              <a:grpSpLocks/>
            </p:cNvGrpSpPr>
            <p:nvPr/>
          </p:nvGrpSpPr>
          <p:grpSpPr bwMode="auto">
            <a:xfrm>
              <a:off x="233" y="1779"/>
              <a:ext cx="2375" cy="1951"/>
              <a:chOff x="233" y="1779"/>
              <a:chExt cx="2375" cy="1951"/>
            </a:xfrm>
          </p:grpSpPr>
          <p:sp>
            <p:nvSpPr>
              <p:cNvPr id="46100" name="Text Box 20"/>
              <p:cNvSpPr txBox="1">
                <a:spLocks noChangeArrowheads="1"/>
              </p:cNvSpPr>
              <p:nvPr/>
            </p:nvSpPr>
            <p:spPr bwMode="auto">
              <a:xfrm>
                <a:off x="590" y="1779"/>
                <a:ext cx="2018" cy="5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/>
                <a:r>
                  <a:rPr lang="pt-PT" sz="1600" b="0">
                    <a:latin typeface="Arial" charset="0"/>
                  </a:rPr>
                  <a:t>Agora na janela de bibliotecas pode verificar a existência do símbolo </a:t>
                </a:r>
                <a:r>
                  <a:rPr lang="pt-PT" sz="1600" b="0" i="1">
                    <a:latin typeface="Arial" charset="0"/>
                  </a:rPr>
                  <a:t>my_xor</a:t>
                </a:r>
                <a:endParaRPr lang="en-US" sz="1600" b="0" i="1">
                  <a:latin typeface="Arial" charset="0"/>
                </a:endParaRPr>
              </a:p>
            </p:txBody>
          </p:sp>
          <p:sp>
            <p:nvSpPr>
              <p:cNvPr id="46102" name="Line 22"/>
              <p:cNvSpPr>
                <a:spLocks noChangeShapeType="1"/>
              </p:cNvSpPr>
              <p:nvPr/>
            </p:nvSpPr>
            <p:spPr bwMode="auto">
              <a:xfrm>
                <a:off x="398" y="2097"/>
                <a:ext cx="486" cy="16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6101" name="Oval 21"/>
              <p:cNvSpPr>
                <a:spLocks noChangeArrowheads="1"/>
              </p:cNvSpPr>
              <p:nvPr/>
            </p:nvSpPr>
            <p:spPr bwMode="auto">
              <a:xfrm>
                <a:off x="233" y="1827"/>
                <a:ext cx="288" cy="288"/>
              </a:xfrm>
              <a:prstGeom prst="ellipse">
                <a:avLst/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pt-PT" sz="2000" b="0">
                    <a:latin typeface="Arial" charset="0"/>
                  </a:rPr>
                  <a:t>14</a:t>
                </a:r>
                <a:endParaRPr lang="en-US" sz="2000" b="0">
                  <a:latin typeface="Arial" charset="0"/>
                </a:endParaRPr>
              </a:p>
            </p:txBody>
          </p:sp>
        </p:grpSp>
        <p:sp>
          <p:nvSpPr>
            <p:cNvPr id="46115" name="Line 35"/>
            <p:cNvSpPr>
              <a:spLocks noChangeShapeType="1"/>
            </p:cNvSpPr>
            <p:nvPr/>
          </p:nvSpPr>
          <p:spPr bwMode="auto">
            <a:xfrm>
              <a:off x="399" y="2115"/>
              <a:ext cx="485" cy="4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60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60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60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60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6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500"/>
                                        <p:tgtEl>
                                          <p:spTgt spid="46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46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8" dur="500"/>
                                        <p:tgtEl>
                                          <p:spTgt spid="46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46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7" dur="500"/>
                                        <p:tgtEl>
                                          <p:spTgt spid="46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88" name="Object 28"/>
          <p:cNvGraphicFramePr>
            <a:graphicFrameLocks noChangeAspect="1"/>
          </p:cNvGraphicFramePr>
          <p:nvPr/>
        </p:nvGraphicFramePr>
        <p:xfrm>
          <a:off x="1600200" y="714375"/>
          <a:ext cx="5943600" cy="321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0" name="Bitmap Image" r:id="rId3" imgW="5942857" imgH="3219899" progId="Paint.Picture">
                  <p:embed/>
                </p:oleObj>
              </mc:Choice>
              <mc:Fallback>
                <p:oleObj name="Bitmap Image" r:id="rId3" imgW="5942857" imgH="3219899" progId="Paint.Picture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714375"/>
                        <a:ext cx="5943600" cy="3219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0983" name="Group 23"/>
          <p:cNvGrpSpPr>
            <a:grpSpLocks/>
          </p:cNvGrpSpPr>
          <p:nvPr/>
        </p:nvGrpSpPr>
        <p:grpSpPr bwMode="auto">
          <a:xfrm>
            <a:off x="533400" y="76200"/>
            <a:ext cx="7620000" cy="1143000"/>
            <a:chOff x="336" y="48"/>
            <a:chExt cx="4800" cy="720"/>
          </a:xfrm>
        </p:grpSpPr>
        <p:sp>
          <p:nvSpPr>
            <p:cNvPr id="40966" name="Text Box 6"/>
            <p:cNvSpPr txBox="1">
              <a:spLocks noChangeArrowheads="1"/>
            </p:cNvSpPr>
            <p:nvPr/>
          </p:nvSpPr>
          <p:spPr bwMode="auto">
            <a:xfrm>
              <a:off x="720" y="96"/>
              <a:ext cx="441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pt-PT" sz="1600" b="0">
                  <a:latin typeface="Arial" charset="0"/>
                </a:rPr>
                <a:t>Vamos utilizar o componente </a:t>
              </a:r>
              <a:r>
                <a:rPr lang="pt-PT" sz="1600" b="0" i="1">
                  <a:latin typeface="Arial" charset="0"/>
                </a:rPr>
                <a:t>my_xor </a:t>
              </a:r>
              <a:r>
                <a:rPr lang="pt-PT" sz="1600" b="0">
                  <a:latin typeface="Arial" charset="0"/>
                </a:rPr>
                <a:t>para construir o circuito seguinte:</a:t>
              </a:r>
              <a:endParaRPr lang="en-US" sz="1600" b="0">
                <a:latin typeface="Arial" charset="0"/>
              </a:endParaRPr>
            </a:p>
          </p:txBody>
        </p:sp>
        <p:sp>
          <p:nvSpPr>
            <p:cNvPr id="40967" name="Line 7"/>
            <p:cNvSpPr>
              <a:spLocks noChangeShapeType="1"/>
            </p:cNvSpPr>
            <p:nvPr/>
          </p:nvSpPr>
          <p:spPr bwMode="auto">
            <a:xfrm>
              <a:off x="528" y="288"/>
              <a:ext cx="576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0968" name="Oval 8"/>
            <p:cNvSpPr>
              <a:spLocks noChangeArrowheads="1"/>
            </p:cNvSpPr>
            <p:nvPr/>
          </p:nvSpPr>
          <p:spPr bwMode="auto">
            <a:xfrm>
              <a:off x="336" y="48"/>
              <a:ext cx="288" cy="288"/>
            </a:xfrm>
            <a:prstGeom prst="ellipse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pt-PT" sz="2000" b="0">
                  <a:latin typeface="Arial" charset="0"/>
                </a:rPr>
                <a:t>16</a:t>
              </a:r>
              <a:endParaRPr lang="en-US" sz="2000" b="0">
                <a:latin typeface="Arial" charset="0"/>
              </a:endParaRPr>
            </a:p>
          </p:txBody>
        </p:sp>
      </p:grpSp>
      <p:graphicFrame>
        <p:nvGraphicFramePr>
          <p:cNvPr id="40975" name="Object 15"/>
          <p:cNvGraphicFramePr>
            <a:graphicFrameLocks noChangeAspect="1"/>
          </p:cNvGraphicFramePr>
          <p:nvPr/>
        </p:nvGraphicFramePr>
        <p:xfrm>
          <a:off x="1295400" y="5267325"/>
          <a:ext cx="1333500" cy="125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1" name="Bitmap Image" r:id="rId5" imgW="1333333" imgH="1257476" progId="Paint.Picture">
                  <p:embed/>
                </p:oleObj>
              </mc:Choice>
              <mc:Fallback>
                <p:oleObj name="Bitmap Image" r:id="rId5" imgW="1333333" imgH="1257476" progId="Paint.Picture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5267325"/>
                        <a:ext cx="1333500" cy="1257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6" name="Object 16"/>
          <p:cNvGraphicFramePr>
            <a:graphicFrameLocks noChangeAspect="1"/>
          </p:cNvGraphicFramePr>
          <p:nvPr/>
        </p:nvGraphicFramePr>
        <p:xfrm>
          <a:off x="6019800" y="5191125"/>
          <a:ext cx="1247775" cy="1266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2" name="Bitmap Image" r:id="rId7" imgW="1247619" imgH="1267002" progId="Paint.Picture">
                  <p:embed/>
                </p:oleObj>
              </mc:Choice>
              <mc:Fallback>
                <p:oleObj name="Bitmap Image" r:id="rId7" imgW="1247619" imgH="1267002" progId="Paint.Picture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5191125"/>
                        <a:ext cx="1247775" cy="1266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0986" name="Group 26"/>
          <p:cNvGrpSpPr>
            <a:grpSpLocks/>
          </p:cNvGrpSpPr>
          <p:nvPr/>
        </p:nvGrpSpPr>
        <p:grpSpPr bwMode="auto">
          <a:xfrm>
            <a:off x="457200" y="4048125"/>
            <a:ext cx="3962400" cy="2362200"/>
            <a:chOff x="288" y="2544"/>
            <a:chExt cx="2496" cy="1488"/>
          </a:xfrm>
        </p:grpSpPr>
        <p:sp>
          <p:nvSpPr>
            <p:cNvPr id="40973" name="Text Box 13"/>
            <p:cNvSpPr txBox="1">
              <a:spLocks noChangeArrowheads="1"/>
            </p:cNvSpPr>
            <p:nvPr/>
          </p:nvSpPr>
          <p:spPr bwMode="auto">
            <a:xfrm>
              <a:off x="768" y="2592"/>
              <a:ext cx="2016" cy="5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pt-PT" sz="1600" b="0">
                  <a:latin typeface="Arial" charset="0"/>
                </a:rPr>
                <a:t>Componente </a:t>
              </a:r>
              <a:r>
                <a:rPr lang="pt-PT" sz="1600" b="0" i="1">
                  <a:latin typeface="Arial" charset="0"/>
                </a:rPr>
                <a:t>DEV4 </a:t>
              </a:r>
              <a:r>
                <a:rPr lang="pt-PT" sz="1600" b="0">
                  <a:latin typeface="Arial" charset="0"/>
                </a:rPr>
                <a:t>é um teclado hexadecimal existente na biblioteca </a:t>
              </a:r>
              <a:r>
                <a:rPr lang="pt-PT" sz="1600" b="0" i="1">
                  <a:latin typeface="Arial" charset="0"/>
                </a:rPr>
                <a:t>Simulation IO</a:t>
              </a:r>
              <a:endParaRPr lang="en-US" sz="1600" b="0">
                <a:latin typeface="Arial" charset="0"/>
              </a:endParaRPr>
            </a:p>
          </p:txBody>
        </p:sp>
        <p:grpSp>
          <p:nvGrpSpPr>
            <p:cNvPr id="40984" name="Group 24"/>
            <p:cNvGrpSpPr>
              <a:grpSpLocks/>
            </p:cNvGrpSpPr>
            <p:nvPr/>
          </p:nvGrpSpPr>
          <p:grpSpPr bwMode="auto">
            <a:xfrm>
              <a:off x="288" y="2544"/>
              <a:ext cx="624" cy="1488"/>
              <a:chOff x="288" y="2544"/>
              <a:chExt cx="624" cy="1488"/>
            </a:xfrm>
          </p:grpSpPr>
          <p:sp>
            <p:nvSpPr>
              <p:cNvPr id="40974" name="Oval 14"/>
              <p:cNvSpPr>
                <a:spLocks noChangeArrowheads="1"/>
              </p:cNvSpPr>
              <p:nvPr/>
            </p:nvSpPr>
            <p:spPr bwMode="auto">
              <a:xfrm>
                <a:off x="288" y="2544"/>
                <a:ext cx="288" cy="288"/>
              </a:xfrm>
              <a:prstGeom prst="ellipse">
                <a:avLst/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pt-PT" sz="2000" b="0">
                    <a:latin typeface="Arial" charset="0"/>
                  </a:rPr>
                  <a:t>17</a:t>
                </a:r>
                <a:endParaRPr lang="en-US" sz="2000" b="0">
                  <a:latin typeface="Arial" charset="0"/>
                </a:endParaRPr>
              </a:p>
            </p:txBody>
          </p:sp>
          <p:sp>
            <p:nvSpPr>
              <p:cNvPr id="40979" name="Line 19"/>
              <p:cNvSpPr>
                <a:spLocks noChangeShapeType="1"/>
              </p:cNvSpPr>
              <p:nvPr/>
            </p:nvSpPr>
            <p:spPr bwMode="auto">
              <a:xfrm>
                <a:off x="480" y="2832"/>
                <a:ext cx="432" cy="6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0980" name="Line 20"/>
              <p:cNvSpPr>
                <a:spLocks noChangeShapeType="1"/>
              </p:cNvSpPr>
              <p:nvPr/>
            </p:nvSpPr>
            <p:spPr bwMode="auto">
              <a:xfrm>
                <a:off x="480" y="2832"/>
                <a:ext cx="384" cy="1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</p:grpSp>
      <p:grpSp>
        <p:nvGrpSpPr>
          <p:cNvPr id="40987" name="Group 27"/>
          <p:cNvGrpSpPr>
            <a:grpSpLocks/>
          </p:cNvGrpSpPr>
          <p:nvPr/>
        </p:nvGrpSpPr>
        <p:grpSpPr bwMode="auto">
          <a:xfrm>
            <a:off x="4724400" y="4048125"/>
            <a:ext cx="4038600" cy="1981200"/>
            <a:chOff x="2976" y="2544"/>
            <a:chExt cx="2544" cy="1248"/>
          </a:xfrm>
        </p:grpSpPr>
        <p:sp>
          <p:nvSpPr>
            <p:cNvPr id="40977" name="Text Box 17"/>
            <p:cNvSpPr txBox="1">
              <a:spLocks noChangeArrowheads="1"/>
            </p:cNvSpPr>
            <p:nvPr/>
          </p:nvSpPr>
          <p:spPr bwMode="auto">
            <a:xfrm>
              <a:off x="3504" y="2592"/>
              <a:ext cx="2016" cy="5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pt-PT" sz="1600" b="0">
                  <a:latin typeface="Arial" charset="0"/>
                </a:rPr>
                <a:t>Componente </a:t>
              </a:r>
              <a:r>
                <a:rPr lang="pt-PT" sz="1600" b="0" i="1">
                  <a:latin typeface="Arial" charset="0"/>
                </a:rPr>
                <a:t>DISP1 </a:t>
              </a:r>
              <a:r>
                <a:rPr lang="pt-PT" sz="1600" b="0">
                  <a:latin typeface="Arial" charset="0"/>
                </a:rPr>
                <a:t>é um </a:t>
              </a:r>
              <a:r>
                <a:rPr lang="pt-PT" sz="1600" b="0" i="1">
                  <a:latin typeface="Arial" charset="0"/>
                </a:rPr>
                <a:t>display</a:t>
              </a:r>
              <a:r>
                <a:rPr lang="pt-PT" sz="1600" b="0">
                  <a:latin typeface="Arial" charset="0"/>
                </a:rPr>
                <a:t> hexadecimal existente na biblioteca </a:t>
              </a:r>
              <a:r>
                <a:rPr lang="pt-PT" sz="1600" b="0" i="1">
                  <a:latin typeface="Arial" charset="0"/>
                </a:rPr>
                <a:t>Simulation IO</a:t>
              </a:r>
              <a:endParaRPr lang="en-US" sz="1600" b="0">
                <a:latin typeface="Arial" charset="0"/>
              </a:endParaRPr>
            </a:p>
          </p:txBody>
        </p:sp>
        <p:sp>
          <p:nvSpPr>
            <p:cNvPr id="40981" name="Line 21"/>
            <p:cNvSpPr>
              <a:spLocks noChangeShapeType="1"/>
            </p:cNvSpPr>
            <p:nvPr/>
          </p:nvSpPr>
          <p:spPr bwMode="auto">
            <a:xfrm>
              <a:off x="3168" y="2784"/>
              <a:ext cx="672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0982" name="Line 22"/>
            <p:cNvSpPr>
              <a:spLocks noChangeShapeType="1"/>
            </p:cNvSpPr>
            <p:nvPr/>
          </p:nvSpPr>
          <p:spPr bwMode="auto">
            <a:xfrm>
              <a:off x="3168" y="2784"/>
              <a:ext cx="624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0978" name="Oval 18"/>
            <p:cNvSpPr>
              <a:spLocks noChangeArrowheads="1"/>
            </p:cNvSpPr>
            <p:nvPr/>
          </p:nvSpPr>
          <p:spPr bwMode="auto">
            <a:xfrm>
              <a:off x="2976" y="2544"/>
              <a:ext cx="288" cy="288"/>
            </a:xfrm>
            <a:prstGeom prst="ellipse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pt-PT" sz="2000" b="0">
                  <a:latin typeface="Arial" charset="0"/>
                </a:rPr>
                <a:t>18</a:t>
              </a:r>
              <a:endParaRPr lang="en-US" sz="2000" b="0">
                <a:latin typeface="Arial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0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" dur="500"/>
                                        <p:tgtEl>
                                          <p:spTgt spid="40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0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0" dur="500"/>
                                        <p:tgtEl>
                                          <p:spTgt spid="40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0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9" dur="500"/>
                                        <p:tgtEl>
                                          <p:spTgt spid="40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024" name="Object 40"/>
          <p:cNvGraphicFramePr>
            <a:graphicFrameLocks noChangeAspect="1"/>
          </p:cNvGraphicFramePr>
          <p:nvPr/>
        </p:nvGraphicFramePr>
        <p:xfrm>
          <a:off x="6011863" y="5286375"/>
          <a:ext cx="2447925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61" name="Bitmap Image" r:id="rId3" imgW="2448267" imgH="1095528" progId="Paint.Picture">
                  <p:embed/>
                </p:oleObj>
              </mc:Choice>
              <mc:Fallback>
                <p:oleObj name="Bitmap Image" r:id="rId3" imgW="2448267" imgH="1095528" progId="Paint.Picture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1863" y="5286375"/>
                        <a:ext cx="2447925" cy="1095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22" name="Object 38"/>
          <p:cNvGraphicFramePr>
            <a:graphicFrameLocks noChangeAspect="1"/>
          </p:cNvGraphicFramePr>
          <p:nvPr/>
        </p:nvGraphicFramePr>
        <p:xfrm>
          <a:off x="323850" y="5461000"/>
          <a:ext cx="3228975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62" name="Bitmap Image" r:id="rId5" imgW="3228571" imgH="704948" progId="Paint.Picture">
                  <p:embed/>
                </p:oleObj>
              </mc:Choice>
              <mc:Fallback>
                <p:oleObj name="Bitmap Image" r:id="rId5" imgW="3228571" imgH="704948" progId="Paint.Picture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5461000"/>
                        <a:ext cx="3228975" cy="704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18" name="Object 34"/>
          <p:cNvGraphicFramePr>
            <a:graphicFrameLocks noChangeAspect="1"/>
          </p:cNvGraphicFramePr>
          <p:nvPr/>
        </p:nvGraphicFramePr>
        <p:xfrm>
          <a:off x="3981450" y="5045075"/>
          <a:ext cx="1743075" cy="155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63" name="Bitmap Image" r:id="rId7" imgW="1743318" imgH="1552792" progId="Paint.Picture">
                  <p:embed/>
                </p:oleObj>
              </mc:Choice>
              <mc:Fallback>
                <p:oleObj name="Bitmap Image" r:id="rId7" imgW="1743318" imgH="1552792" progId="Paint.Picture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1450" y="5045075"/>
                        <a:ext cx="1743075" cy="1552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17" name="Object 33"/>
          <p:cNvGraphicFramePr>
            <a:graphicFrameLocks noChangeAspect="1"/>
          </p:cNvGraphicFramePr>
          <p:nvPr/>
        </p:nvGraphicFramePr>
        <p:xfrm>
          <a:off x="395288" y="2197100"/>
          <a:ext cx="2238375" cy="195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64" name="Bitmap Image" r:id="rId9" imgW="2238687" imgH="1952898" progId="Paint.Picture">
                  <p:embed/>
                </p:oleObj>
              </mc:Choice>
              <mc:Fallback>
                <p:oleObj name="Bitmap Image" r:id="rId9" imgW="2238687" imgH="1952898" progId="Paint.Picture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2197100"/>
                        <a:ext cx="2238375" cy="1952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2005" name="Group 21"/>
          <p:cNvGrpSpPr>
            <a:grpSpLocks/>
          </p:cNvGrpSpPr>
          <p:nvPr/>
        </p:nvGrpSpPr>
        <p:grpSpPr bwMode="auto">
          <a:xfrm>
            <a:off x="152400" y="76200"/>
            <a:ext cx="7620000" cy="657225"/>
            <a:chOff x="96" y="48"/>
            <a:chExt cx="4800" cy="414"/>
          </a:xfrm>
        </p:grpSpPr>
        <p:sp>
          <p:nvSpPr>
            <p:cNvPr id="41988" name="Text Box 4"/>
            <p:cNvSpPr txBox="1">
              <a:spLocks noChangeArrowheads="1"/>
            </p:cNvSpPr>
            <p:nvPr/>
          </p:nvSpPr>
          <p:spPr bwMode="auto">
            <a:xfrm>
              <a:off x="480" y="96"/>
              <a:ext cx="4416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pt-PT" sz="1600">
                  <a:latin typeface="Arial" charset="0"/>
                </a:rPr>
                <a:t>A </a:t>
              </a:r>
              <a:r>
                <a:rPr lang="pt-PT" sz="1600" b="0">
                  <a:latin typeface="Arial" charset="0"/>
                </a:rPr>
                <a:t>é um barramento. Para ligar sinais individuais a um barramento utiliza-se um símbolo especial: </a:t>
              </a:r>
              <a:r>
                <a:rPr lang="pt-PT" sz="1600" b="0" i="1">
                  <a:latin typeface="Arial" charset="0"/>
                </a:rPr>
                <a:t>breakout</a:t>
              </a:r>
              <a:r>
                <a:rPr lang="pt-PT" sz="1600" b="0">
                  <a:latin typeface="Arial" charset="0"/>
                </a:rPr>
                <a:t>.</a:t>
              </a:r>
              <a:endParaRPr lang="en-US" sz="1600">
                <a:latin typeface="Arial" charset="0"/>
              </a:endParaRPr>
            </a:p>
          </p:txBody>
        </p:sp>
        <p:sp>
          <p:nvSpPr>
            <p:cNvPr id="41990" name="Oval 6"/>
            <p:cNvSpPr>
              <a:spLocks noChangeArrowheads="1"/>
            </p:cNvSpPr>
            <p:nvPr/>
          </p:nvSpPr>
          <p:spPr bwMode="auto">
            <a:xfrm>
              <a:off x="96" y="48"/>
              <a:ext cx="288" cy="288"/>
            </a:xfrm>
            <a:prstGeom prst="ellipse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pt-PT" sz="2000" b="0">
                  <a:latin typeface="Arial" charset="0"/>
                </a:rPr>
                <a:t>19</a:t>
              </a:r>
              <a:endParaRPr lang="en-US" sz="2000" b="0">
                <a:latin typeface="Arial" charset="0"/>
              </a:endParaRPr>
            </a:p>
          </p:txBody>
        </p:sp>
      </p:grpSp>
      <p:graphicFrame>
        <p:nvGraphicFramePr>
          <p:cNvPr id="41991" name="Object 7"/>
          <p:cNvGraphicFramePr>
            <a:graphicFrameLocks noChangeAspect="1"/>
          </p:cNvGraphicFramePr>
          <p:nvPr/>
        </p:nvGraphicFramePr>
        <p:xfrm>
          <a:off x="5857875" y="1905000"/>
          <a:ext cx="2219325" cy="171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65" name="Bitmap Image" r:id="rId11" imgW="2752381" imgH="2123810" progId="Paint.Picture">
                  <p:embed/>
                </p:oleObj>
              </mc:Choice>
              <mc:Fallback>
                <p:oleObj name="Bitmap Image" r:id="rId11" imgW="2752381" imgH="2123810" progId="Paint.Picture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7875" y="1905000"/>
                        <a:ext cx="2219325" cy="171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2014" name="Group 30"/>
          <p:cNvGrpSpPr>
            <a:grpSpLocks/>
          </p:cNvGrpSpPr>
          <p:nvPr/>
        </p:nvGrpSpPr>
        <p:grpSpPr bwMode="auto">
          <a:xfrm>
            <a:off x="3429000" y="2438400"/>
            <a:ext cx="1981200" cy="1435100"/>
            <a:chOff x="2160" y="1536"/>
            <a:chExt cx="1248" cy="904"/>
          </a:xfrm>
        </p:grpSpPr>
        <p:sp>
          <p:nvSpPr>
            <p:cNvPr id="42003" name="Text Box 19"/>
            <p:cNvSpPr txBox="1">
              <a:spLocks noChangeArrowheads="1"/>
            </p:cNvSpPr>
            <p:nvPr/>
          </p:nvSpPr>
          <p:spPr bwMode="auto">
            <a:xfrm>
              <a:off x="2160" y="1920"/>
              <a:ext cx="1248" cy="5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pt-PT" sz="1600" b="0">
                  <a:latin typeface="Arial" charset="0"/>
                </a:rPr>
                <a:t>Como é possível </a:t>
              </a:r>
              <a:r>
                <a:rPr lang="pt-PT" sz="1600" b="0" smtClean="0">
                  <a:latin typeface="Arial" charset="0"/>
                </a:rPr>
                <a:t>otimizar </a:t>
              </a:r>
              <a:r>
                <a:rPr lang="pt-PT" sz="1600" b="0">
                  <a:latin typeface="Arial" charset="0"/>
                </a:rPr>
                <a:t>o circuito construído?</a:t>
              </a:r>
              <a:endParaRPr lang="en-US" sz="1600" b="0" dirty="0">
                <a:latin typeface="Arial" charset="0"/>
              </a:endParaRPr>
            </a:p>
          </p:txBody>
        </p:sp>
        <p:sp>
          <p:nvSpPr>
            <p:cNvPr id="42004" name="Oval 20"/>
            <p:cNvSpPr>
              <a:spLocks noChangeArrowheads="1"/>
            </p:cNvSpPr>
            <p:nvPr/>
          </p:nvSpPr>
          <p:spPr bwMode="auto">
            <a:xfrm>
              <a:off x="2592" y="1536"/>
              <a:ext cx="288" cy="288"/>
            </a:xfrm>
            <a:prstGeom prst="ellipse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pt-PT" sz="2000" b="0">
                  <a:latin typeface="Arial" charset="0"/>
                </a:rPr>
                <a:t>24</a:t>
              </a:r>
              <a:endParaRPr lang="en-US" sz="2000" b="0">
                <a:latin typeface="Arial" charset="0"/>
              </a:endParaRPr>
            </a:p>
          </p:txBody>
        </p:sp>
      </p:grpSp>
      <p:grpSp>
        <p:nvGrpSpPr>
          <p:cNvPr id="42008" name="Group 24"/>
          <p:cNvGrpSpPr>
            <a:grpSpLocks/>
          </p:cNvGrpSpPr>
          <p:nvPr/>
        </p:nvGrpSpPr>
        <p:grpSpPr bwMode="auto">
          <a:xfrm>
            <a:off x="152400" y="914400"/>
            <a:ext cx="3657600" cy="1828800"/>
            <a:chOff x="96" y="576"/>
            <a:chExt cx="2304" cy="1152"/>
          </a:xfrm>
        </p:grpSpPr>
        <p:grpSp>
          <p:nvGrpSpPr>
            <p:cNvPr id="42006" name="Group 22"/>
            <p:cNvGrpSpPr>
              <a:grpSpLocks/>
            </p:cNvGrpSpPr>
            <p:nvPr/>
          </p:nvGrpSpPr>
          <p:grpSpPr bwMode="auto">
            <a:xfrm>
              <a:off x="96" y="576"/>
              <a:ext cx="2304" cy="520"/>
              <a:chOff x="96" y="576"/>
              <a:chExt cx="2304" cy="520"/>
            </a:xfrm>
          </p:grpSpPr>
          <p:sp>
            <p:nvSpPr>
              <p:cNvPr id="41992" name="Text Box 8"/>
              <p:cNvSpPr txBox="1">
                <a:spLocks noChangeArrowheads="1"/>
              </p:cNvSpPr>
              <p:nvPr/>
            </p:nvSpPr>
            <p:spPr bwMode="auto">
              <a:xfrm>
                <a:off x="480" y="576"/>
                <a:ext cx="1920" cy="5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/>
                <a:r>
                  <a:rPr lang="pt-PT" sz="1600" b="0" dirty="0">
                    <a:latin typeface="Arial" charset="0"/>
                  </a:rPr>
                  <a:t>Para criar um </a:t>
                </a:r>
                <a:r>
                  <a:rPr lang="pt-PT" sz="1600" b="0" i="1" dirty="0">
                    <a:latin typeface="Arial" charset="0"/>
                  </a:rPr>
                  <a:t>breakout </a:t>
                </a:r>
                <a:r>
                  <a:rPr lang="pt-PT" sz="1600" b="0" dirty="0" smtClean="0">
                    <a:latin typeface="Arial" charset="0"/>
                  </a:rPr>
                  <a:t>selecione </a:t>
                </a:r>
                <a:r>
                  <a:rPr lang="pt-PT" sz="1600" b="0" dirty="0">
                    <a:latin typeface="Arial" charset="0"/>
                  </a:rPr>
                  <a:t>a opção </a:t>
                </a:r>
                <a:r>
                  <a:rPr lang="pt-PT" sz="1600" b="0" i="1" dirty="0">
                    <a:latin typeface="Arial" charset="0"/>
                  </a:rPr>
                  <a:t>New Breakout... </a:t>
                </a:r>
                <a:r>
                  <a:rPr lang="pt-PT" sz="1600" b="0" dirty="0">
                    <a:latin typeface="Arial" charset="0"/>
                  </a:rPr>
                  <a:t>no menu </a:t>
                </a:r>
                <a:r>
                  <a:rPr lang="pt-PT" sz="1600" b="0" i="1" dirty="0">
                    <a:latin typeface="Arial" charset="0"/>
                  </a:rPr>
                  <a:t>Options</a:t>
                </a:r>
                <a:endParaRPr lang="en-US" sz="1600" b="0" dirty="0">
                  <a:latin typeface="Arial" charset="0"/>
                </a:endParaRPr>
              </a:p>
            </p:txBody>
          </p:sp>
          <p:sp>
            <p:nvSpPr>
              <p:cNvPr id="41993" name="Oval 9"/>
              <p:cNvSpPr>
                <a:spLocks noChangeArrowheads="1"/>
              </p:cNvSpPr>
              <p:nvPr/>
            </p:nvSpPr>
            <p:spPr bwMode="auto">
              <a:xfrm>
                <a:off x="96" y="680"/>
                <a:ext cx="288" cy="288"/>
              </a:xfrm>
              <a:prstGeom prst="ellipse">
                <a:avLst/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pt-PT" sz="2000" b="0">
                    <a:latin typeface="Arial" charset="0"/>
                  </a:rPr>
                  <a:t>20</a:t>
                </a:r>
                <a:endParaRPr lang="en-US" sz="2000" b="0">
                  <a:latin typeface="Arial" charset="0"/>
                </a:endParaRPr>
              </a:p>
            </p:txBody>
          </p:sp>
        </p:grpSp>
        <p:sp>
          <p:nvSpPr>
            <p:cNvPr id="42007" name="Line 23"/>
            <p:cNvSpPr>
              <a:spLocks noChangeShapeType="1"/>
            </p:cNvSpPr>
            <p:nvPr/>
          </p:nvSpPr>
          <p:spPr bwMode="auto">
            <a:xfrm>
              <a:off x="288" y="960"/>
              <a:ext cx="24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2025" name="Group 41"/>
          <p:cNvGrpSpPr>
            <a:grpSpLocks/>
          </p:cNvGrpSpPr>
          <p:nvPr/>
        </p:nvGrpSpPr>
        <p:grpSpPr bwMode="auto">
          <a:xfrm>
            <a:off x="152400" y="4572000"/>
            <a:ext cx="3810000" cy="944563"/>
            <a:chOff x="96" y="2880"/>
            <a:chExt cx="2400" cy="595"/>
          </a:xfrm>
        </p:grpSpPr>
        <p:sp>
          <p:nvSpPr>
            <p:cNvPr id="41999" name="Text Box 15"/>
            <p:cNvSpPr txBox="1">
              <a:spLocks noChangeArrowheads="1"/>
            </p:cNvSpPr>
            <p:nvPr/>
          </p:nvSpPr>
          <p:spPr bwMode="auto">
            <a:xfrm>
              <a:off x="480" y="2888"/>
              <a:ext cx="2016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pt-PT" sz="1600" b="0">
                  <a:latin typeface="Arial" charset="0"/>
                </a:rPr>
                <a:t>Interligue todos os componentes e simule o circuito</a:t>
              </a:r>
              <a:endParaRPr lang="en-US" sz="1600" b="0">
                <a:latin typeface="Arial" charset="0"/>
              </a:endParaRPr>
            </a:p>
          </p:txBody>
        </p:sp>
        <p:sp>
          <p:nvSpPr>
            <p:cNvPr id="42000" name="Oval 16"/>
            <p:cNvSpPr>
              <a:spLocks noChangeArrowheads="1"/>
            </p:cNvSpPr>
            <p:nvPr/>
          </p:nvSpPr>
          <p:spPr bwMode="auto">
            <a:xfrm>
              <a:off x="96" y="2880"/>
              <a:ext cx="288" cy="288"/>
            </a:xfrm>
            <a:prstGeom prst="ellipse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pt-PT" sz="2000" b="0">
                  <a:latin typeface="Arial" charset="0"/>
                </a:rPr>
                <a:t>22</a:t>
              </a:r>
              <a:endParaRPr lang="en-US" sz="2000" b="0">
                <a:latin typeface="Arial" charset="0"/>
              </a:endParaRPr>
            </a:p>
          </p:txBody>
        </p:sp>
        <p:sp>
          <p:nvSpPr>
            <p:cNvPr id="42009" name="Line 25"/>
            <p:cNvSpPr>
              <a:spLocks noChangeShapeType="1"/>
            </p:cNvSpPr>
            <p:nvPr/>
          </p:nvSpPr>
          <p:spPr bwMode="auto">
            <a:xfrm>
              <a:off x="288" y="3168"/>
              <a:ext cx="97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2021" name="Group 37"/>
          <p:cNvGrpSpPr>
            <a:grpSpLocks/>
          </p:cNvGrpSpPr>
          <p:nvPr/>
        </p:nvGrpSpPr>
        <p:grpSpPr bwMode="auto">
          <a:xfrm>
            <a:off x="4267200" y="4343400"/>
            <a:ext cx="4495800" cy="1677988"/>
            <a:chOff x="2688" y="2736"/>
            <a:chExt cx="2832" cy="1057"/>
          </a:xfrm>
        </p:grpSpPr>
        <p:sp>
          <p:nvSpPr>
            <p:cNvPr id="42001" name="Text Box 17"/>
            <p:cNvSpPr txBox="1">
              <a:spLocks noChangeArrowheads="1"/>
            </p:cNvSpPr>
            <p:nvPr/>
          </p:nvSpPr>
          <p:spPr bwMode="auto">
            <a:xfrm>
              <a:off x="3168" y="2736"/>
              <a:ext cx="2352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pt-PT" sz="1600" b="0">
                  <a:latin typeface="Arial" charset="0"/>
                </a:rPr>
                <a:t>Repare que o barramento </a:t>
              </a:r>
              <a:r>
                <a:rPr lang="pt-PT" sz="1600">
                  <a:latin typeface="Arial" charset="0"/>
                </a:rPr>
                <a:t>A </a:t>
              </a:r>
              <a:r>
                <a:rPr lang="pt-PT" sz="1600" b="0">
                  <a:latin typeface="Arial" charset="0"/>
                </a:rPr>
                <a:t>pode ser decomposto em sinais individuais:</a:t>
              </a:r>
              <a:endParaRPr lang="en-US" sz="1600" b="0">
                <a:latin typeface="Arial" charset="0"/>
              </a:endParaRPr>
            </a:p>
          </p:txBody>
        </p:sp>
        <p:sp>
          <p:nvSpPr>
            <p:cNvPr id="42002" name="Oval 18"/>
            <p:cNvSpPr>
              <a:spLocks noChangeArrowheads="1"/>
            </p:cNvSpPr>
            <p:nvPr/>
          </p:nvSpPr>
          <p:spPr bwMode="auto">
            <a:xfrm>
              <a:off x="2688" y="2736"/>
              <a:ext cx="336" cy="288"/>
            </a:xfrm>
            <a:prstGeom prst="ellipse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pt-PT" sz="2000" b="0">
                  <a:latin typeface="Arial" charset="0"/>
                </a:rPr>
                <a:t>23</a:t>
              </a:r>
              <a:endParaRPr lang="en-US" sz="2000" b="0">
                <a:latin typeface="Arial" charset="0"/>
              </a:endParaRPr>
            </a:p>
          </p:txBody>
        </p:sp>
        <p:sp>
          <p:nvSpPr>
            <p:cNvPr id="42011" name="Line 27"/>
            <p:cNvSpPr>
              <a:spLocks noChangeShapeType="1"/>
            </p:cNvSpPr>
            <p:nvPr/>
          </p:nvSpPr>
          <p:spPr bwMode="auto">
            <a:xfrm>
              <a:off x="2925" y="3022"/>
              <a:ext cx="182" cy="7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2012" name="Line 28"/>
            <p:cNvSpPr>
              <a:spLocks noChangeShapeType="1"/>
            </p:cNvSpPr>
            <p:nvPr/>
          </p:nvSpPr>
          <p:spPr bwMode="auto">
            <a:xfrm>
              <a:off x="2925" y="3022"/>
              <a:ext cx="862" cy="6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2016" name="Group 32"/>
          <p:cNvGrpSpPr>
            <a:grpSpLocks/>
          </p:cNvGrpSpPr>
          <p:nvPr/>
        </p:nvGrpSpPr>
        <p:grpSpPr bwMode="auto">
          <a:xfrm>
            <a:off x="4419600" y="762000"/>
            <a:ext cx="4572000" cy="1600200"/>
            <a:chOff x="2784" y="480"/>
            <a:chExt cx="2880" cy="1008"/>
          </a:xfrm>
        </p:grpSpPr>
        <p:sp>
          <p:nvSpPr>
            <p:cNvPr id="41997" name="Text Box 13"/>
            <p:cNvSpPr txBox="1">
              <a:spLocks noChangeArrowheads="1"/>
            </p:cNvSpPr>
            <p:nvPr/>
          </p:nvSpPr>
          <p:spPr bwMode="auto">
            <a:xfrm>
              <a:off x="3120" y="480"/>
              <a:ext cx="2544" cy="6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pt-PT" sz="1600" b="0">
                  <a:latin typeface="Arial" charset="0"/>
                </a:rPr>
                <a:t>Na janela de diálogo que vai aparecer indique que sinais pretende ligar ao barramento (separando-os por espaços ou utilizando a notação ilustrada na figura)</a:t>
              </a:r>
              <a:endParaRPr lang="en-US" sz="1600" b="0">
                <a:latin typeface="Arial" charset="0"/>
              </a:endParaRPr>
            </a:p>
          </p:txBody>
        </p:sp>
        <p:sp>
          <p:nvSpPr>
            <p:cNvPr id="42015" name="Line 31"/>
            <p:cNvSpPr>
              <a:spLocks noChangeShapeType="1"/>
            </p:cNvSpPr>
            <p:nvPr/>
          </p:nvSpPr>
          <p:spPr bwMode="auto">
            <a:xfrm>
              <a:off x="2976" y="1008"/>
              <a:ext cx="768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1998" name="Oval 14"/>
            <p:cNvSpPr>
              <a:spLocks noChangeArrowheads="1"/>
            </p:cNvSpPr>
            <p:nvPr/>
          </p:nvSpPr>
          <p:spPr bwMode="auto">
            <a:xfrm>
              <a:off x="2784" y="768"/>
              <a:ext cx="288" cy="288"/>
            </a:xfrm>
            <a:prstGeom prst="ellipse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pt-PT" sz="2000" b="0">
                  <a:latin typeface="Arial" charset="0"/>
                </a:rPr>
                <a:t>21</a:t>
              </a:r>
              <a:endParaRPr lang="en-US" sz="2000" b="0">
                <a:latin typeface="Arial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2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2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6" dur="500"/>
                                        <p:tgtEl>
                                          <p:spTgt spid="42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1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5" dur="500"/>
                                        <p:tgtEl>
                                          <p:spTgt spid="42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42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4" dur="500"/>
                                        <p:tgtEl>
                                          <p:spTgt spid="42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42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42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6" dur="500"/>
                                        <p:tgtEl>
                                          <p:spTgt spid="42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420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20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900" decel="100000" fill="hold"/>
                                        <p:tgtEl>
                                          <p:spTgt spid="420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20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 tmFilter="0, 0; .2, .5; .8, .5; 1, 0"/>
                                        <p:tgtEl>
                                          <p:spTgt spid="420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8" dur="250" autoRev="1" fill="hold"/>
                                        <p:tgtEl>
                                          <p:spTgt spid="420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1089</TotalTime>
  <Words>1191</Words>
  <Application>Microsoft Office PowerPoint</Application>
  <PresentationFormat>On-screen Show (4:3)</PresentationFormat>
  <Paragraphs>161</Paragraphs>
  <Slides>18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0" baseType="lpstr">
      <vt:lpstr>Default Design</vt:lpstr>
      <vt:lpstr>Bitmap Image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DETUA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Iouliia Skliarova</dc:creator>
  <cp:lastModifiedBy>iouliia@ua.pt</cp:lastModifiedBy>
  <cp:revision>267</cp:revision>
  <dcterms:created xsi:type="dcterms:W3CDTF">2003-01-19T11:45:19Z</dcterms:created>
  <dcterms:modified xsi:type="dcterms:W3CDTF">2013-07-29T11:58:16Z</dcterms:modified>
</cp:coreProperties>
</file>